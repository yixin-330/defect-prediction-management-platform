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509160f124cf9" /><Relationship Type="http://schemas.openxmlformats.org/officeDocument/2006/relationships/extended-properties" Target="/docProps/app.xml" Id="R7de72fdf4c9e4be3" /><Relationship Type="http://schemas.openxmlformats.org/officeDocument/2006/relationships/officeDocument" Target="/ppt/presentation.xml" Id="R21a3b8a72ef6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d9780cb714947"/>
  </p:sldMasterIdLst>
  <p:notesMasterIdLst>
    <p:notesMasterId xmlns:r="http://schemas.openxmlformats.org/officeDocument/2006/relationships" r:id="R36329717698a41e2"/>
  </p:notesMasterIdLst>
  <p:sldIdLst>
    <p:sldId xmlns:r="http://schemas.openxmlformats.org/officeDocument/2006/relationships" id="256" r:id="R282b33c9b8c44a8e"/>
    <p:sldId xmlns:r="http://schemas.openxmlformats.org/officeDocument/2006/relationships" id="257" r:id="R62758f22a93b4e29"/>
    <p:sldId xmlns:r="http://schemas.openxmlformats.org/officeDocument/2006/relationships" id="258" r:id="R44d1412aaa764586"/>
    <p:sldId xmlns:r="http://schemas.openxmlformats.org/officeDocument/2006/relationships" id="259" r:id="R4904330c08864875"/>
    <p:sldId xmlns:r="http://schemas.openxmlformats.org/officeDocument/2006/relationships" id="260" r:id="Rd406922b386143db"/>
    <p:sldId xmlns:r="http://schemas.openxmlformats.org/officeDocument/2006/relationships" id="261" r:id="Rae68600ac9c24c84"/>
    <p:sldId xmlns:r="http://schemas.openxmlformats.org/officeDocument/2006/relationships" id="262" r:id="Rf14d3f683e944e26"/>
    <p:sldId xmlns:r="http://schemas.openxmlformats.org/officeDocument/2006/relationships" id="263" r:id="Rfb43d053297742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415ddf5a74ff1" /><Relationship Type="http://schemas.openxmlformats.org/officeDocument/2006/relationships/slideMaster" Target="/ppt/slideMasters/slideMaster1.xml" Id="Rba6d9780cb714947" /><Relationship Type="http://schemas.openxmlformats.org/officeDocument/2006/relationships/notesMaster" Target="/ppt/notesMasters/notesMaster1.xml" Id="R36329717698a41e2" /><Relationship Type="http://schemas.openxmlformats.org/officeDocument/2006/relationships/presProps" Target="/ppt/presProps.xml" Id="Rdfb72aa775604964" /><Relationship Type="http://schemas.openxmlformats.org/officeDocument/2006/relationships/tableStyles" Target="/ppt/tableStyles.xml" Id="Rd3ad48cb6388450b" /><Relationship Type="http://schemas.openxmlformats.org/officeDocument/2006/relationships/slide" Target="/ppt/slides/slide1.xml" Id="R282b33c9b8c44a8e" /><Relationship Type="http://schemas.openxmlformats.org/officeDocument/2006/relationships/slide" Target="/ppt/slides/slide2.xml" Id="R62758f22a93b4e29" /><Relationship Type="http://schemas.openxmlformats.org/officeDocument/2006/relationships/slide" Target="/ppt/slides/slide3.xml" Id="R44d1412aaa764586" /><Relationship Type="http://schemas.openxmlformats.org/officeDocument/2006/relationships/slide" Target="/ppt/slides/slide4.xml" Id="R4904330c08864875" /><Relationship Type="http://schemas.openxmlformats.org/officeDocument/2006/relationships/slide" Target="/ppt/slides/slide5.xml" Id="Rd406922b386143db" /><Relationship Type="http://schemas.openxmlformats.org/officeDocument/2006/relationships/slide" Target="/ppt/slides/slide6.xml" Id="Rae68600ac9c24c84" /><Relationship Type="http://schemas.openxmlformats.org/officeDocument/2006/relationships/slide" Target="/ppt/slides/slide7.xml" Id="Rf14d3f683e944e26" /><Relationship Type="http://schemas.openxmlformats.org/officeDocument/2006/relationships/slide" Target="/ppt/slides/slide8.xml" Id="Rfb43d053297742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a8cf292a8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0c7f7b99c94f36" /><Relationship Type="http://schemas.openxmlformats.org/officeDocument/2006/relationships/notesMaster" Target="/ppt/notesMasters/notesMaster1.xml" Id="Rafea385b2ded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0a73bc6c547a2" /><Relationship Type="http://schemas.openxmlformats.org/officeDocument/2006/relationships/notesMaster" Target="/ppt/notesMasters/notesMaster1.xml" Id="R561e8322458b41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e24331056f4c9d" /><Relationship Type="http://schemas.openxmlformats.org/officeDocument/2006/relationships/notesMaster" Target="/ppt/notesMasters/notesMaster1.xml" Id="R9b18c5b59d07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776b2b07a4730" /><Relationship Type="http://schemas.openxmlformats.org/officeDocument/2006/relationships/notesMaster" Target="/ppt/notesMasters/notesMaster1.xml" Id="R4c19d156ca3e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772d185cb40d8" /><Relationship Type="http://schemas.openxmlformats.org/officeDocument/2006/relationships/notesMaster" Target="/ppt/notesMasters/notesMaster1.xml" Id="Rc2a0976d2ddd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a68919a5f34832" /><Relationship Type="http://schemas.openxmlformats.org/officeDocument/2006/relationships/notesMaster" Target="/ppt/notesMasters/notesMaster1.xml" Id="Reeca67961cbf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f3161da98f43a8" /><Relationship Type="http://schemas.openxmlformats.org/officeDocument/2006/relationships/notesMaster" Target="/ppt/notesMasters/notesMaster1.xml" Id="R51365d8f467342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dd0f8fa8df488a" /><Relationship Type="http://schemas.openxmlformats.org/officeDocument/2006/relationships/notesMaster" Target="/ppt/notesMasters/notesMaster1.xml" Id="Rf673735fb1dd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建议用时：20秒。</a:t>
            </a:r>
          </a:p>
          <a:p xmlns:a="http://schemas.openxmlformats.org/drawingml/2006/main">
            <a:r>
              <a:t>大家好，我们汇报即时软件缺陷预测系统的阶段进展。系统面向高校软件工程课程团队，提供代码提交风险分析和审查辅助。目前已完成产品需求、产品主线、小组分工和技术架构设计。团队成员是白沁禾、张艺馨、侯洁、张欣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建议用时：1分20秒。</a:t>
            </a:r>
          </a:p>
          <a:p xmlns:a="http://schemas.openxmlformats.org/drawingml/2006/main">
            <a:r>
              <a:t>我们的目标用户是代码审查资源有限的开发团队，首批聚焦高校软件工程课程团队。系统使用真实开源项目历史数据训练JIT，也就是即时软件缺陷预测模型，对一次代码提交进行风险预测、解释和排序。它为代码审查提供参考，帮助学生团队建立规范的流程，也为教师提供项目质量趋势参考。</a:t>
            </a:r>
          </a:p>
          <a:p xmlns:a="http://schemas.openxmlformats.org/drawingml/2006/main">
            <a:r>
              <a:t>三类用户关注点不同：学生开发者关注自己的提交风险和代码改进，项目负责人关注审查安排和团队整体风险，教师或助教关注各小组的质量趋势和指导时机。</a:t>
            </a:r>
          </a:p>
          <a:p xmlns:a="http://schemas.openxmlformats.org/drawingml/2006/main">
            <a:r>
              <a:t>完整产品主线是：连接课程项目仓库，分析每次提交，发现高风险变更，解释风险来源，安排代码审查，最后记录处理结果。这里描述完整使用过程，首次交付哪些功能将在下一阶段进一步确定。未来还可推广至开源社区和中小型研发团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>目前完成的是四项设计工作。产品需求明确了目标用户、使用场景和功能需求，为后续确定交付范围提供依据。产品主线明确了提交分析、风险解释、审查和处理记录流程，为页面和接口设计提供依据。小组分工明确了四个角色的主责模块和工作内容，为协作提供依据。技术架构明确了系统模块、数据流及模型训练和预测的关系，为开发与联调提供依据。</a:t>
            </a:r>
          </a:p>
          <a:p xmlns:a="http://schemas.openxmlformats.org/drawingml/2006/main">
            <a:r>
              <a:t>右侧用于展示已有需求文档、流程或设计文档截图。展示时选择1至2张清晰截图并指出关键部分。当前报告没有确认的开发完成率、模型效果或用户数据。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建议用时：1分10秒。</a:t>
            </a:r>
          </a:p>
          <a:p xmlns:a="http://schemas.openxmlformats.org/drawingml/2006/main">
            <a:r>
              <a:t>用户通过前端选择项目，查看风险列表、提交详情、审查记录和趋势看板。前端把请求发送给后端，后端负责仓库接入、请求管理、预测调用和结果管理，并把处理结果返回前端。</a:t>
            </a:r>
          </a:p>
          <a:p xmlns:a="http://schemas.openxmlformats.org/drawingml/2006/main">
            <a:r>
              <a:t>后端从数据存储读取项目、提交和特征信息，预测和审查处理结果也保存在这里。后端调用数据处理模块解析提交、提取特征。提取结果送入预测模型，模型返回风险评分和特征贡献解释。</a:t>
            </a:r>
          </a:p>
          <a:p xmlns:a="http://schemas.openxmlformats.org/drawingml/2006/main">
            <a:r>
              <a:t>因此一次使用过程是：选择提交，后端读取数据、提取特征并调用模型，保存结果，再返回前端展示。图示说明模块和数据关系。技术栈按团队最终选型确定，当前没有补入尚未确认的选型。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建议用时：1分10秒。</a:t>
            </a:r>
          </a:p>
          <a:p xmlns:a="http://schemas.openxmlformats.org/drawingml/2006/main">
            <a:r>
              <a:t>这里区分离线训练和在线预测。离线阶段从真实开源项目历史数据出发，使用SZZ标注并构建特征，完成多模型训练、评估，再选型和保存模型。</a:t>
            </a:r>
          </a:p>
          <a:p xmlns:a="http://schemas.openxmlformats.org/drawingml/2006/main">
            <a:r>
              <a:t>在线阶段面对课程项目的新提交，按相同规则提取特征，直接调用已经训练好的模型，再给出风险解释和优先级排序。SZZ标签用于历史训练和评估，在线预测不需要等待未来的修复结果。</a:t>
            </a:r>
          </a:p>
          <a:p xmlns:a="http://schemas.openxmlformats.org/drawingml/2006/main">
            <a:r>
              <a:t>两条原则是：训练和预测共用特征提取规则，预测只使用提交当时能够获得的信息。这样可以避免把未来信息引入预测。模型提前训练，用户使用时直接调用。开源数据上的评估表现还需要通过课程项目试用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>白沁禾负责数据与特征工程，包括Git仓库解析、SZZ、Kamei 14维特征、数据清洗和持久化，以及训练集构建。技能侧重Python、Git和数据挖掘，可选扩展语义特征。</a:t>
            </a:r>
          </a:p>
          <a:p xmlns:a="http://schemas.openxmlformats.org/drawingml/2006/main">
            <a:r>
              <a:t>张艺馨负责模型训练、评估和解释，计划至少比较8个经典机器学习和深度学习模型，并覆盖Effort-unaware与Effort-aware两类评估指标，完成数据划分、选型和SHAP等解释。技能侧重机器学习、深度学习和Sklearn/PyTorch。</a:t>
            </a:r>
          </a:p>
          <a:p xmlns:a="http://schemas.openxmlformats.org/drawingml/2006/main">
            <a:r>
              <a:t>侯洁负责预测服务与工程化，包括在线预测API、数据与模型封装、仓库集成或Webhook、CI/CD、部署和稳定性。技能侧重FastAPI/Flask、Docker和GitHub Actions。</a:t>
            </a:r>
          </a:p>
          <a:p xmlns:a="http://schemas.openxmlformats.org/drawingml/2006/main">
            <a:r>
              <a:t>张欣悦负责前端与产品体验，包括风险列表、趋势看板、详情页、结果和解释展示、交互打磨、产品文档和演示。技能侧重Vue/React、ECharts和UI设计。此页说明工作分配，不代表功能已经全部实现。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建议用时：1分20秒。</a:t>
            </a:r>
          </a:p>
          <a:p xmlns:a="http://schemas.openxmlformats.org/drawingml/2006/main">
            <a:r>
              <a:t>当前有四项需要解决或验证的事项。第一，产品主线已明确，但首个可用版本的功能和验收标准还不够具体，需要确定首次演示必须跑通的流程，并区分优先实现和后续扩展功能。</a:t>
            </a:r>
          </a:p>
          <a:p xmlns:a="http://schemas.openxmlformats.org/drawingml/2006/main">
            <a:r>
              <a:t>第二，至少8个模型、两类指标、对比与解释带来较大实验工作量，应先跑通基线、统一实验流程，再逐步扩展。</a:t>
            </a:r>
          </a:p>
          <a:p xmlns:a="http://schemas.openxmlformats.org/drawingml/2006/main">
            <a:r>
              <a:t>第三，模块间的数据格式、特征顺序、模型文件和接口结构需要对齐，应制定输入输出规范，并使用公共样例数据提前联调。</a:t>
            </a:r>
          </a:p>
          <a:p xmlns:a="http://schemas.openxmlformats.org/drawingml/2006/main">
            <a:r>
              <a:t>第四，开源项目和课程项目在规模与提交习惯上存在差异。因此开源数据评估和课程项目试用分别开展，进一步验证适用性。每个问题对应一个具体行动，后续按这些行动推进。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建议用时：1分20秒。</a:t>
            </a:r>
          </a:p>
          <a:p xmlns:a="http://schemas.openxmlformats.org/drawingml/2006/main">
            <a:r>
              <a:t>下一步按四个阶段推进。第一阶段明确交付范围与协作规范，输出功能清单、接口约定和公共样例数据。第二阶段完成数据与模型基线，跑通采集、标注、特征提取和基线评估，再逐步扩展模型，交付可复现的数据处理流程、模型和评估报告。</a:t>
            </a:r>
          </a:p>
          <a:p xmlns:a="http://schemas.openxmlformats.org/drawingml/2006/main">
            <a:r>
              <a:t>第三阶段完成系统联调，连接仓库接入、预测、风险解释和审查记录，形成可运行的完整使用流程。第四阶段邀请课程团队试用，收集反馈、检查适用性，输出试用记录、问题清单和改进计划。</a:t>
            </a:r>
          </a:p>
          <a:p xmlns:a="http://schemas.openxmlformats.org/drawingml/2006/main">
            <a:r>
              <a:t>具体日期将结合课程截止时间和团队排期确定。下一阶段重点是完成首个可用流程，并验证预测结果能否帮助课程团队开展代码审查。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39b47e1fc46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43dd1385244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87219071347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96043c5ba43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3ca7474804d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56c5f4eef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EC049-948B-43EA-B64F-F7C84D02A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45D652-AF94-4FDF-A18F-ABAF3E8E6D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FCC5F5-80AF-4D07-BF48-C5C31496C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22B737-B823-4A09-85F2-B51A7B84A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98833A-3887-48EC-A46A-4C79551328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5B0B0E-5DFB-49FA-A017-622C08F11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CF18A6-779F-4006-B3FC-235624787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8A8EF7-B64B-4710-B745-99B834AF48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D73A07-16E4-465B-880C-A04652523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9AD56C-2481-423D-B282-CEBA959CA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f4aa9aa4554569" /><Relationship Type="http://schemas.openxmlformats.org/officeDocument/2006/relationships/slideLayout" Target="/ppt/slideLayouts/slideLayout1.xml" Id="R7b36a66b5b624b13" /><Relationship Type="http://schemas.openxmlformats.org/officeDocument/2006/relationships/slideLayout" Target="/ppt/slideLayouts/slideLayout2.xml" Id="R88afecd11b0d4636" /><Relationship Type="http://schemas.openxmlformats.org/officeDocument/2006/relationships/slideLayout" Target="/ppt/slideLayouts/slideLayout3.xml" Id="R5b09c89649ee44e8" /><Relationship Type="http://schemas.openxmlformats.org/officeDocument/2006/relationships/slideLayout" Target="/ppt/slideLayouts/slideLayout4.xml" Id="R6cedf43a4c684cee" /><Relationship Type="http://schemas.openxmlformats.org/officeDocument/2006/relationships/slideLayout" Target="/ppt/slideLayouts/slideLayout5.xml" Id="Rf66edfb1fc934d87" /><Relationship Type="http://schemas.openxmlformats.org/officeDocument/2006/relationships/slideLayout" Target="/ppt/slideLayouts/slideLayout6.xml" Id="Rd79cf33f8a4848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6a66b5b624b13"/>
    <p:sldLayoutId xmlns:r="http://schemas.openxmlformats.org/officeDocument/2006/relationships" id="2147483650" r:id="R88afecd11b0d4636"/>
    <p:sldLayoutId xmlns:r="http://schemas.openxmlformats.org/officeDocument/2006/relationships" id="2147483651" r:id="R5b09c89649ee44e8"/>
    <p:sldLayoutId xmlns:r="http://schemas.openxmlformats.org/officeDocument/2006/relationships" id="2147483652" r:id="R6cedf43a4c684cee"/>
    <p:sldLayoutId xmlns:r="http://schemas.openxmlformats.org/officeDocument/2006/relationships" id="2147483653" r:id="Rf66edfb1fc934d87"/>
    <p:sldLayoutId xmlns:r="http://schemas.openxmlformats.org/officeDocument/2006/relationships" id="2147483654" r:id="Rd79cf33f8a4848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e939f6a6643fb" /><Relationship Type="http://schemas.openxmlformats.org/officeDocument/2006/relationships/notesSlide" Target="/ppt/notesSlides/notesSlide1.xml" Id="R341693d885cd40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d5dba1c8f4b82" /><Relationship Type="http://schemas.openxmlformats.org/officeDocument/2006/relationships/notesSlide" Target="/ppt/notesSlides/notesSlide2.xml" Id="R03dc777055e8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227fddff34558" /><Relationship Type="http://schemas.openxmlformats.org/officeDocument/2006/relationships/notesSlide" Target="/ppt/notesSlides/notesSlide3.xml" Id="R309b0969d5ac4d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c13c22b734330" /><Relationship Type="http://schemas.openxmlformats.org/officeDocument/2006/relationships/notesSlide" Target="/ppt/notesSlides/notesSlide4.xml" Id="R874c5e750d2e4f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6628dc59b4ce8" /><Relationship Type="http://schemas.openxmlformats.org/officeDocument/2006/relationships/notesSlide" Target="/ppt/notesSlides/notesSlide5.xml" Id="R4a55ae94c13e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30ff545934888" /><Relationship Type="http://schemas.openxmlformats.org/officeDocument/2006/relationships/notesSlide" Target="/ppt/notesSlides/notesSlide6.xml" Id="Rb735e98aaa6348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6f7cc5b864928" /><Relationship Type="http://schemas.openxmlformats.org/officeDocument/2006/relationships/notesSlide" Target="/ppt/notesSlides/notesSlide7.xml" Id="R5c9008359fb84f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33e3098374d15" /><Relationship Type="http://schemas.openxmlformats.org/officeDocument/2006/relationships/notesSlide" Target="/ppt/notesSlides/notesSlide8.xml" Id="Rdd002074f4774a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672865-9E1E-4F05-9943-908FF3C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094"/>
            <a:ext cx="7086600" cy="69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即时软件缺陷预测系统阶段汇报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0B5699-6814-4AF2-9940-9EC1565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3116"/>
            <a:ext cx="76200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面向高校软件工程课程团队的代码提交风险分析与审查辅助系统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21ED5D-2A45-4960-A1F5-BD1D9B8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7828"/>
            <a:ext cx="563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已完成产品需求、产品主线、小组分工与技术架构设计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EB100BC-80BF-4950-927C-403E0EFC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6528"/>
            <a:ext cx="449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团队成员：白沁禾、张艺馨、侯洁、张欣悦</a:t>
            </a:r>
          </a:p>
        </p:txBody>
      </p:sp>
    </p:spTree>
    <p:extLst>
      <p:ext uri="{BB962C8B-B14F-4D97-AF65-F5344CB8AC3E}">
        <p14:creationId xmlns:p14="http://schemas.microsoft.com/office/powerpoint/2010/main" val="1497051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7BCAD-2338-4CA6-B787-2CBA856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产品定位与产品主线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FA3468-E041-4446-B1B3-35E581B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1303"/>
            <a:ext cx="723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面向代码审查资源有限的开发团队，首批聚焦高校软件工程课程团队。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17DC5F-8010-45C3-A2B5-8EA00FD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2778"/>
            <a:ext cx="881405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基于真实开源项目训练JIT缺陷预测模型，对提交进行风险预测、解释与优先级排序，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639A5D-F703-4192-B136-BF8842C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253"/>
            <a:ext cx="746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辅助学生团队建立规范的代码审查流程，为教师提供项目质量趋势参考。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4A4D040-F2A2-4369-853A-FFAD0981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4603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产品主线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688232-B2BA-4346-89AC-DA5CA4BB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13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连接课程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231F07-6A29-4E6C-88D7-4B15430E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5653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项目仓库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4C8AC01-B2EB-43B6-BCCD-6E821BCB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3728"/>
            <a:ext cx="381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2B992C7-4174-4BBF-8A6F-DAB8DB7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913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分析每次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D671636-C52F-45B1-B23F-DFBD44F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0565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EC999CC-67F0-4552-B799-7405468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43728"/>
            <a:ext cx="381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B380972-DBFD-48ED-B161-46609BF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1328"/>
            <a:ext cx="1295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发现高风险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95FB0E0-7EBD-45A7-956F-AAA0486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60565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变更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6BBBB72-C4B1-448A-BB32-2DD80D5A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43728"/>
            <a:ext cx="381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EEDB6E3-F2CF-40B2-8069-A3AD32F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913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解释风险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F8FA07B-8C5D-4514-AFF3-44DC1B1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565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0B6DCC0-4564-49DA-97F9-BF4AA5C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43728"/>
            <a:ext cx="381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C51DFEC-063B-4241-AA80-83AFA719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913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安排代码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36B3AE3-3F77-46A2-93E1-357D9C29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0565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审查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F6C1CD3-7643-4E5C-A73E-C362EAE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43728"/>
            <a:ext cx="381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655A473-F1B8-4376-B2FE-E1D8322B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913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记录处理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10D9A5F-3D08-44AC-8FD5-BD15EEE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605653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F096EC84-7AAD-45D8-B65D-CDF839DF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079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未来可进一步推广至开源社区和中小型研发团队。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7BB65A63-E7A0-4BD3-9227-EAB4B1D2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CE88A-EAF4-4CD7-8516-8721846FBE9C}"/>
              </a:ext>
            </a:extLst>
          </p:cNvPr>
          <p:cNvGraphicFramePr/>
          <p:nvPr/>
        </p:nvGraphicFramePr>
        <p:xfrm>
          <a:off xmlns:a="http://schemas.openxmlformats.org/drawingml/2006/main" x="609600" y="2609850"/>
          <a:ext xmlns:a="http://schemas.openxmlformats.org/drawingml/2006/main" cx="10972800" cy="1943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09850"/>
                <a:gridCol w="8362950"/>
              </a:tblGrid>
              <a:tr h="4572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核心用户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使用目的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学生开发者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查看自己提交的风险并改进代码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安排代码审查，了解团队整体风险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教师或助教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查看各小组的项目质量趋势，及时提供指导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423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009F3E-DDC7-4FD8-A092-4650F18D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已完成工作与成果展示</a:t>
            </a:r>
          </a:p>
        </p:txBody>
      </p:sp>
      <p:sp>
        <p:nvSpPr>
          <p:cNvPr id="2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047C8B4C-AC24-4DA8-B270-D6536958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51054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dash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21D145-6FE8-4123-93D9-75A5C0B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2066"/>
            <a:ext cx="14859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成果展示区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217BE-A6EB-4806-874F-19A3418D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5828"/>
            <a:ext cx="3124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放置已有需求文档、产品流程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25829B1-84E5-41E4-AD74-97E6E3C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95878"/>
            <a:ext cx="1752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或设计文档截图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77CDCFB-C6F8-419D-80E7-08635BF9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68240"/>
            <a:ext cx="36309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建议选择1—2张清晰截图，突出关键部分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9A1508-25BC-4E2C-8CCD-0E922F80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C2001-80AB-47FC-B20E-FA5B220D7DCB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53721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62100"/>
                <a:gridCol w="3810000"/>
              </a:tblGrid>
              <a:tr h="533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已完成工作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产品需求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明确目标用户、使用场景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与功能需求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产品主线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明确提交分析、风险解释、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审查与处理记录的使用流程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小组分工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明确四个角色的主责模块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与工作内容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技术架构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明确系统模块、数据流及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训练与预测的关系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703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30BF69-04B5-4472-BD66-26FE294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434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技术架构：用户使用系统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C4DFDD-B82E-4BE3-91BD-94C07AB0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6866"/>
            <a:ext cx="685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3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A316F6D3-8D03-4FD3-B7DB-6AC5937C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solid"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C2BC7C-ECAB-40FD-BC9E-899E1F84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111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前端页面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1C9ED0-A1D0-4F39-BA57-BBEDB39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57653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风险列表、提交详情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D4329AA-28C7-406C-9B56-E761606B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91028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审查记录、趋势看板</a:t>
            </a:r>
          </a:p>
        </p:txBody>
      </p:sp>
      <p:sp>
        <p:nvSpPr>
          <p:cNvPr id="7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DFD3E866-6268-412B-87A7-2FFC417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C831D5-5056-4C67-B672-17DB647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7111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后端服务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BE82BEB-A50C-4AD7-BEE6-C9D4DD6C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7653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仓库接入、请求管理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B2C8753-B723-4ED9-A9F7-A4DAD18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1028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预测调用、结果管理</a:t>
            </a:r>
          </a:p>
        </p:txBody>
      </p:sp>
      <p:sp>
        <p:nvSpPr>
          <p:cNvPr id="11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00B9176B-E6F7-4C38-930C-8E700297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4310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19E32CF-78BF-4D09-A7C8-12245BD1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7111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3819422-FFFD-49AD-A654-79BE260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57653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提交解析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6F41ECC-FC04-4C46-9D22-F4041985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102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特征提取</a:t>
            </a:r>
          </a:p>
        </p:txBody>
      </p:sp>
      <p:sp>
        <p:nvSpPr>
          <p:cNvPr id="15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D470C458-2BA4-4206-B6FF-7644BA6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F258C61-0D3C-4F2D-9138-42770C3F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2856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数据存储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7CAB6A7-DD25-4458-B1FE-5514FE4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15103"/>
            <a:ext cx="198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项目与提交、特征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C3309D4-7768-4274-A701-71497A6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48478"/>
            <a:ext cx="2209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预测结果、处理记录</a:t>
            </a:r>
          </a:p>
        </p:txBody>
      </p:sp>
      <p:sp>
        <p:nvSpPr>
          <p:cNvPr id="19" name="module-or-placeholder">
            <a:extLst xmlns:a="http://schemas.openxmlformats.org/drawingml/2006/main">
              <a:ext uri="{FF2B5EF4-FFF2-40B4-BE49-F238E27FC236}">
                <a16:creationId xmlns:a16="http://schemas.microsoft.com/office/drawing/2014/main" id="{0E5215BE-1E63-4374-B3DB-2E436D07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005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4DEE8"/>
            </a:solidFill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65A37B47-FCA9-4714-AE2A-D956E9F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2856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预测模型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BAFB199-C1B0-41E8-8470-68F612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5103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风险评分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46C69C8-837F-4629-93BF-ECD04B5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48478"/>
            <a:ext cx="152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特征贡献解释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985D5-CAB4-40CA-BF27-112068510A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6670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B28880B4-53F3-4357-B79C-4BA5B6E0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2026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发送请求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28847-CC2F-4A06-A46E-BFCDBA8A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52950" y="24288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47326-2CDB-454B-9C72-C9BF6B7073A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52950" y="28670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32AD6B6-B97E-4E78-90E8-E7E3ED7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561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返回结果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74B257F0-9584-44EC-AC06-96E71C24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026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调用处理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BEACB-9EC5-485F-9369-4104A675A5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62950" y="2428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19A7C-4B41-4E84-86AB-5AD7E93758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00875" y="34861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triangle" w="sm" len="sm"/>
            <a:tailEnd type="triangle" w="sm" len="sm"/>
          </a:ln>
        </p:spPr>
      </p:cxn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528EA4C5-0A3C-4FA5-9D08-592F6F1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521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读取数据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AB2B99A-E8DF-445C-8082-0D8843E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049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保存结果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834C4-33A5-4F0F-8CAB-12EB9AEEA4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34650" y="34861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0C665CB-7B46-4E44-8218-FD3B993D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3951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100033-C83E-4E87-835B-FF55EDB5830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896350" y="5133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FBB5E-C3CE-4512-912E-CD429117E9F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896350" y="3019425"/>
            <a:ext cx="0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51124-1ACC-419D-A158-B76DF9D803B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362950" y="30194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1F519D88-CB23-41B0-AFA6-E026402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1569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风险分数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240537B-6906-411F-BE04-43C018D1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1096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及解释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7617208F-4D15-4D1B-9FF7-756DB6C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0290"/>
            <a:ext cx="739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选择一次提交，后端读取数据并提取特征，调用模型预测，保存结果并返回前端展示。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4526718D-6432-4D20-940F-F7AB234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3435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5E9D6D-37C7-4372-BD8B-32BD6DA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548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技术架构：模型训练与在线预测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72F9E0-4587-46DF-9F2F-A189434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531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离线训练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092CF5-2C4E-4AE1-8ED6-C1801624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7578"/>
            <a:ext cx="152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真实开源项目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B50EB0-2B7C-4DFF-BE65-E0AE212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04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历史数据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37D0922-E067-475C-B9A8-A7BCFF8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806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3CD6747-0E95-4BCF-BB77-0F77CDF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7578"/>
            <a:ext cx="104165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SZZ标注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681735C-24E4-4A61-9BE8-4C410BA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0478"/>
            <a:ext cx="1295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与特征构建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A529CD-B59C-4A8C-A91C-5B5C041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806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50C7A7-8A8B-42B7-ABFE-F9349E4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57578"/>
            <a:ext cx="1295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多模型训练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48A1FF3-C608-48EC-850E-DEC9521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0478"/>
            <a:ext cx="838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与评估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64EF878-31CE-4AA7-AB58-1D5A9499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806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200E077-7B8B-497F-B1E6-C2F6E8AC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575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模型选型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61B52E5-DD28-480E-AB73-E9669C63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0478"/>
            <a:ext cx="838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与保存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15952-CD58-4BC3-8D8B-0E27AA52D0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25150" y="27241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E234E-CDB5-47A3-BBA0-FC23061DBB4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05750" y="3095625"/>
            <a:ext cx="2819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non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8B775-9988-4457-AAC7-E678DEE532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0956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8299"/>
            </a:solidFill>
            <a:headEnd type="none" w="sm" len="sm"/>
            <a:tailEnd type="triangle" w="sm" len="sm"/>
          </a:ln>
        </p:spPr>
      </p:cxn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BC5A78B-6CEB-464A-B069-887696E1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4421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保存的模型供在线调用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98FD370-6373-4D05-8998-0511E20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9816"/>
            <a:ext cx="12192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6AC"/>
                </a:solidFill>
                <a:latin typeface="Microsoft YaHei"/>
                <a:ea typeface="Microsoft YaHei"/>
                <a:cs typeface="Microsoft YaHei"/>
              </a:rPr>
              <a:t>在线预测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3B8E4AB-37A5-4DF0-A740-C713921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20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课程项目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EC5EA86-8B57-46D4-B0F0-D299DF3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49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的新提交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D566339-2E50-43BC-8FE4-C05F494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51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088232C6-3F3B-43C3-9667-1D082C3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2078"/>
            <a:ext cx="838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同规则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C46B0C8-5E0B-49C1-A36D-7F6CC878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49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特征提取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234C4371-24A8-46EE-B25F-63DA550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51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AB162780-B1FC-4F68-8A8F-D27B94C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2078"/>
            <a:ext cx="1295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已训练模型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52F83FE4-7CBB-4D50-8EB7-8D25D1C5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4978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AC91F09-0C71-4371-9056-ED9354A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95141"/>
            <a:ext cx="4191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D82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18B97D2-4FF3-4382-8365-733EB37C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72078"/>
            <a:ext cx="106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风险解释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8C67A5A-50CC-4CE1-B990-569FFFA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4978"/>
            <a:ext cx="152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与优先级排序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238860-D091-4283-8C11-87BF8D9A84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471487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DEE8"/>
            </a:solidFill>
            <a:headEnd type="none" w="sm" len="sm"/>
            <a:tailEnd type="none" w="sm" len="sm"/>
          </a:ln>
        </p:spPr>
      </p:cxn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3C8310F5-8D1D-4952-ABB3-0A7F386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8903"/>
            <a:ext cx="335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训练与预测共用特征提取规则。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3B468A5-4232-4C97-ABC3-7088A5C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8903"/>
            <a:ext cx="3810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预测只使用提交当时可获得的信息。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B1BCBE5A-B474-48F3-8686-EE4E6C3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9453"/>
            <a:ext cx="4038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模型提前训练，用户使用时直接调用。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F5FF02E-123C-43B0-AA3D-C8DF254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0928"/>
            <a:ext cx="6324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444"/>
                </a:solidFill>
                <a:latin typeface="Microsoft YaHei"/>
                <a:ea typeface="Microsoft YaHei"/>
                <a:cs typeface="Microsoft YaHei"/>
              </a:rPr>
              <a:t>开源数据上的评估表现，需要进一步通过课程项目试用验证。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65A7C82C-760C-48C7-9E11-4A6BA672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5227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FB130-ED2C-4ED8-9793-9965E635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小组分工与模块责任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D21F2-FD48-46CD-9AF9-478D13F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079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以上为工作分配，不表示所有功能已经实现。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903340-43CF-4C67-A11F-C9A89CE2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E92FE-447F-4CA7-997D-625FE1E59620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286000"/>
                <a:gridCol w="5638800"/>
              </a:tblGrid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角色与人员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主责模块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核心工作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104775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A．数据与特征工程师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白沁禾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数据采集、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特征工程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Git仓库解析、SZZ、Kamei 14维特征、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数据清洗与持久化、训练集构建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B．模型工程师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张艺馨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模型训练、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评估与解释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至少8个模型（经典ML与DL）、两类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评估指标、数据划分、模型对比选型、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SHAP等解释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C．后端与系统工程师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侯洁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预测服务、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在线预测API、数据与模型封装、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仓库集成或Webhook、CI/CD、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部署与稳定性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D．前端与产品工程师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张欣悦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可视化、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产品体验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风险列表、趋势看板、详情页、结果与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解释展示、交互打磨、产品文档与演示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61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F3D4E9-4F7C-4DB5-91D5-055E88A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当前问题与应对计划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85D62F-E649-4C5D-9BCF-82A8C3E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AEB9-78A3-4A69-8430-CBC23355BC6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610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76550"/>
                <a:gridCol w="3810000"/>
                <a:gridCol w="4286250"/>
              </a:tblGrid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当前问题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应对计划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10287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首个可用版本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边界不够明确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产品主线已明确，首次交付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功能与验收标准仍需细化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确定首次演示必须跑通的流程，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划分优先实现与后续扩展功能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实验工作量较大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至少8个模型，涉及两类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指标、模型对比与解释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先跑通基线模型，统一实验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流程，再逐步扩展模型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模块交付约定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不够具体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数据格式、特征顺序、模型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文件及接口结构尚需对齐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制定输入输出规范，用公共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样例数据提前联调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训练数据与目标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用户存在差异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开源项目与高校课程项目的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规模、提交习惯存在差异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分开开展开源数据评估与课程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项目试用，验证适用性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631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ACFECE-F5EE-4BA7-B375-067B432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"/>
            <a:ext cx="3962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下一步计划与阶段交付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14E77D-7C86-48CC-A8FC-A2020DA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4916"/>
            <a:ext cx="44196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下一阶段重点是完成首个可用流程，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9A3F2C-B9A3-4E42-825B-B7F86F2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4966"/>
            <a:ext cx="6019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并验证预测结果能否帮助课程团队开展代码审查。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6D317F-15C2-44DD-B8D2-A2FF303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0790"/>
            <a:ext cx="3924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2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D8A36-0570-4343-BFC8-B4525A1BE827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52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71800"/>
                <a:gridCol w="4171950"/>
                <a:gridCol w="3829050"/>
              </a:tblGrid>
              <a:tr h="4953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重点工作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阶段交付</a:t>
                      </a:r>
                    </a:p>
                  </a:txBody>
                  <a:tcPr marL="171450" marR="171450" marT="57150" marB="57150" anchor="ctr">
                    <a:solidFill>
                      <a:srgbClr val="F3F6FA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1．明确交付范围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与协作规范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确定首次可用功能及验收标准，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统一数据与接口格式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功能清单、接口约定、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公共样例数据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2．完成数据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与模型基线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跑通数据采集、标注、特征提取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和基线评估，逐步扩展模型实验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可复现的数据处理流程、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模型与评估报告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3．完成系统联调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连接仓库接入、预测、风险解释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与审查记录功能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可运行的完整使用流程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4．开展场景验证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邀请课程团队试用，收集反馈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634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并检查模型适用性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57150" rIns="1714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试用记录、问题清单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2166A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与改进计划</a:t>
                      </a:r>
                    </a:p>
                  </a:txBody>
                  <a:tcPr marL="171450" marR="1714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832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2026-10-09T05:13:58.8490000Z</dcterms:created>
  <dcterms:modified xsi:type="dcterms:W3CDTF">2026-10-09T05:13:58.8490000Z</dcterms:modified>
</coreProperties>
</file>