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建议用时：20秒。</a:t>
            </a:r>
          </a:p>
          <a:p>
            <a:r>
              <a:rPr lang="zh-CN" dirty="0"/>
              <a:t>大家好，我们汇报即时软件缺陷预测系统的阶段进展。系统面向高校软件工程课程团队，提供代码提交风险分析和审查辅助。目前已完成产品需求、产品主线、小组分工和技术架构设计。团队成员是白沁禾、张艺馨、侯洁、张欣悦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建议用时：1分20秒。</a:t>
            </a:r>
          </a:p>
          <a:p>
            <a:r>
              <a:rPr lang="zh-CN" dirty="0"/>
              <a:t>我们的目标用户是代码审查资源有限的开发团队，首批聚焦高校软件工程课程团队。系统使用真实开源项目历史数据训练JIT，也就是即时软件缺陷预测模型，对一次代码提交进行风险预测、解释和排序。它为代码审查提供参考，帮助学生团队建立规范的流程，也为教师提供项目质量趋势参考。</a:t>
            </a:r>
          </a:p>
          <a:p>
            <a:r>
              <a:rPr lang="zh-CN" dirty="0"/>
              <a:t>三类用户关注点不同：学生开发者关注自己的提交风险和代码改进，项目负责人关注审查安排和团队整体风险，教师或助教关注各小组的质量趋势和指导时机。</a:t>
            </a:r>
          </a:p>
          <a:p>
            <a:r>
              <a:rPr lang="zh-CN" dirty="0"/>
              <a:t>完整产品主线是：连接课程项目仓库，分析每次提交，发现高风险变更，解释风险来源，安排代码审查，最后记录处理结果。这里描述完整使用过程，首次交付哪些功能将在下一阶段进一步确定。未来还可推广至开源社区和中小型研发团队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建议用时：1分钟。</a:t>
            </a:r>
          </a:p>
          <a:p>
            <a:r>
              <a:rPr lang="zh-CN" dirty="0"/>
              <a:t>目前完成的是四项设计工作。产品需求明确了目标用户、使用场景和功能需求，为后续确定交付范围提供依据。产品主线明确了提交分析、风险解释、审查和处理记录流程，为页面和接口设计提供依据。小组分工明确了四个角色的主责模块和工作内容，为协作提供依据。技术架构明确了系统模块、数据流及模型训练和预测的关系，为开发与联调提供依据。</a:t>
            </a:r>
          </a:p>
          <a:p>
            <a:r>
              <a:rPr lang="zh-CN" dirty="0"/>
              <a:t>右侧用于展示已有需求文档、流程或设计文档截图。展示时选择1至2张清晰截图并指出关键部分。当前报告没有确认的开发完成率、模型效果或用户数据。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建议用时：1分10秒。</a:t>
            </a:r>
          </a:p>
          <a:p>
            <a:r>
              <a:rPr lang="zh-CN" dirty="0"/>
              <a:t>用户通过前端选择项目，查看风险列表、提交详情、审查记录和趋势看板。前端把请求发送给后端，后端负责仓库接入、请求管理、预测调用和结果管理，并把处理结果返回前端。</a:t>
            </a:r>
          </a:p>
          <a:p>
            <a:r>
              <a:rPr lang="zh-CN" dirty="0"/>
              <a:t>后端从数据存储读取项目、提交和特征信息，预测和审查处理结果也保存在这里。后端调用数据处理模块解析提交、提取特征。提取结果送入预测模型，模型返回风险评分和特征贡献解释。</a:t>
            </a:r>
          </a:p>
          <a:p>
            <a:r>
              <a:rPr lang="zh-CN" dirty="0"/>
              <a:t>因此一次使用过程是：选择提交，后端读取数据、提取特征并调用模型，保存结果，再返回前端展示。图示说明模块和数据关系。技术栈按团队最终选型确定，当前没有补入尚未确认的选型。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建议用时：1分10秒。</a:t>
            </a:r>
          </a:p>
          <a:p>
            <a:r>
              <a:rPr lang="zh-CN" dirty="0"/>
              <a:t>这里区分离线训练和在线预测。离线阶段从真实开源项目历史数据出发，使用SZZ标注并构建特征，完成多模型训练、评估，再选型和保存模型。</a:t>
            </a:r>
          </a:p>
          <a:p>
            <a:r>
              <a:rPr lang="zh-CN" dirty="0"/>
              <a:t>在线阶段面对课程项目的新提交，按相同规则提取特征，直接调用已经训练好的模型，再给出风险解释和优先级排序。SZZ标签用于历史训练和评估，在线预测不需要等待未来的修复结果。</a:t>
            </a:r>
          </a:p>
          <a:p>
            <a:r>
              <a:rPr lang="zh-CN" dirty="0"/>
              <a:t>两条原则是：训练和预测共用特征提取规则，预测只使用提交当时能够获得的信息。这样可以避免把未来信息引入预测。模型提前训练，用户使用时直接调用。开源数据上的评估表现还需要通过课程项目试用验证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建议用时：1分钟。</a:t>
            </a:r>
          </a:p>
          <a:p>
            <a:r>
              <a:rPr lang="zh-CN" dirty="0"/>
              <a:t>白沁禾负责数据与特征工程，包括Git仓库解析、SZZ、Kamei 14维特征、数据清洗和持久化，以及训练集构建。技能侧重Python、Git和数据挖掘，可选扩展语义特征。</a:t>
            </a:r>
          </a:p>
          <a:p>
            <a:r>
              <a:rPr lang="zh-CN" dirty="0"/>
              <a:t>张艺馨负责模型训练、评估和解释，计划至少比较8个经典机器学习和深度学习模型，并覆盖Effort-unaware与Effort-aware两类评估指标，完成数据划分、选型和SHAP等解释。技能侧重机器学习、深度学习和Sklearn/PyTorch。</a:t>
            </a:r>
          </a:p>
          <a:p>
            <a:r>
              <a:rPr lang="zh-CN" dirty="0"/>
              <a:t>侯洁负责预测服务与工程化，包括在线预测API、数据与模型封装、仓库集成或Webhook、CI/CD、部署和稳定性。技能侧重FastAPI/Flask、Docker和GitHub Actions。</a:t>
            </a:r>
          </a:p>
          <a:p>
            <a:r>
              <a:rPr lang="zh-CN" dirty="0"/>
              <a:t>张欣悦负责前端与产品体验，包括风险列表、趋势看板、详情页、结果和解释展示、交互打磨、产品文档和演示。技能侧重Vue/React、ECharts和UI设计。此页说明工作分配，不代表功能已经全部实现。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建议用时：1分20秒。</a:t>
            </a:r>
          </a:p>
          <a:p>
            <a:r>
              <a:rPr lang="zh-CN" dirty="0"/>
              <a:t>当前有四项需要解决或验证的事项。第一，产品主线已明确，但首个可用版本的功能和验收标准还不够具体，需要确定首次演示必须跑通的流程，并区分优先实现和后续扩展功能。</a:t>
            </a:r>
          </a:p>
          <a:p>
            <a:r>
              <a:rPr lang="zh-CN" dirty="0"/>
              <a:t>第二，至少8个模型、两类指标、对比与解释带来较大实验工作量，应先跑通基线、统一实验流程，再逐步扩展。</a:t>
            </a:r>
          </a:p>
          <a:p>
            <a:r>
              <a:rPr lang="zh-CN" dirty="0"/>
              <a:t>第三，模块间的数据格式、特征顺序、模型文件和接口结构需要对齐，应制定输入输出规范，并使用公共样例数据提前联调。</a:t>
            </a:r>
          </a:p>
          <a:p>
            <a:r>
              <a:rPr lang="zh-CN" dirty="0"/>
              <a:t>第四，开源项目和课程项目在规模与提交习惯上存在差异。因此开源数据评估和课程项目试用分别开展，进一步验证适用性。每个问题对应一个具体行动，后续按这些行动推进。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建议用时：1分20秒。</a:t>
            </a:r>
          </a:p>
          <a:p>
            <a:r>
              <a:rPr lang="zh-CN" dirty="0"/>
              <a:t>下一步按四个阶段推进。第一阶段明确交付范围与协作规范，输出功能清单、接口约定和公共样例数据。第二阶段完成数据与模型基线，跑通采集、标注、特征提取和基线评估，再逐步扩展模型，交付可复现的数据处理流程、模型和评估报告。</a:t>
            </a:r>
          </a:p>
          <a:p>
            <a:r>
              <a:rPr lang="zh-CN" dirty="0"/>
              <a:t>第三阶段完成系统联调，连接仓库接入、预测、风险解释和审查记录，形成可运行的完整使用流程。第四阶段邀请课程团队试用，收集反馈、检查适用性，输出试用记录、问题清单和改进计划。</a:t>
            </a:r>
          </a:p>
          <a:p>
            <a:r>
              <a:rPr lang="zh-CN" dirty="0"/>
              <a:t>具体日期将结合课程截止时间和团队排期确定。下一阶段重点是完成首个可用流程，并验证预测结果能否帮助课程团队开展代码审查。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712470" y="1979295"/>
            <a:ext cx="7917180" cy="1325880"/>
            <a:chOff x="712470" y="1979295"/>
            <a:chExt cx="7917180" cy="1325880"/>
          </a:xfrm>
        </p:grpSpPr>
        <p:sp>
          <p:nvSpPr>
            <p:cNvPr id="3" name="TextBox 3"/>
            <p:cNvSpPr txBox="1"/>
            <p:nvPr/>
          </p:nvSpPr>
          <p:spPr>
            <a:xfrm>
              <a:off x="712470" y="1979295"/>
              <a:ext cx="7744016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即时软件缺陷预测系统阶段汇报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35330" y="2878455"/>
              <a:ext cx="789432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面向高校软件工程课程团队的代码提交风险分析与审查辅助系统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39140" y="3996690"/>
            <a:ext cx="5806440" cy="1394460"/>
            <a:chOff x="739140" y="3996690"/>
            <a:chExt cx="5806440" cy="1394460"/>
          </a:xfrm>
        </p:grpSpPr>
        <p:sp>
          <p:nvSpPr>
            <p:cNvPr id="6" name="TextBox 6"/>
            <p:cNvSpPr txBox="1"/>
            <p:nvPr/>
          </p:nvSpPr>
          <p:spPr>
            <a:xfrm>
              <a:off x="739140" y="3996690"/>
              <a:ext cx="58064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17286"/>
                  </a:solidFill>
                  <a:latin typeface="Microsoft YaHei"/>
                  <a:ea typeface="Microsoft YaHei"/>
                  <a:cs typeface="Microsoft YaHei"/>
                </a:rPr>
                <a:t>已完成产品需求、产品主线、小组分工与技术架构设计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39140" y="5025390"/>
              <a:ext cx="460629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团队成员：白沁禾、张艺馨、侯洁、张欣悦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571500" y="552450"/>
            <a:ext cx="3856673" cy="609600"/>
            <a:chOff x="571500" y="552450"/>
            <a:chExt cx="3856673" cy="609600"/>
          </a:xfrm>
        </p:grpSpPr>
        <p:sp>
          <p:nvSpPr>
            <p:cNvPr id="3" name="TextBox 3"/>
            <p:cNvSpPr txBox="1"/>
            <p:nvPr/>
          </p:nvSpPr>
          <p:spPr>
            <a:xfrm>
              <a:off x="571500" y="552450"/>
              <a:ext cx="385667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产品定位与产品主线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86740" y="1320165"/>
            <a:ext cx="9022842" cy="1108710"/>
            <a:chOff x="586740" y="1320165"/>
            <a:chExt cx="9022842" cy="1108710"/>
          </a:xfrm>
        </p:grpSpPr>
        <p:sp>
          <p:nvSpPr>
            <p:cNvPr id="5" name="TextBox 5"/>
            <p:cNvSpPr txBox="1"/>
            <p:nvPr/>
          </p:nvSpPr>
          <p:spPr>
            <a:xfrm>
              <a:off x="586740" y="1320165"/>
              <a:ext cx="74866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面向代码审查资源有限的开发团队，首批聚焦高校软件工程课程团队。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86740" y="1691640"/>
              <a:ext cx="902284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基于真实开源项目训练JIT缺陷预测模型，对提交进行风险预测、解释与优先级排序，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86740" y="2063115"/>
              <a:ext cx="77266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辅助学生团队建立规范的代码审查流程，为教师提供项目质量趋势参考。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2609850"/>
            <a:ext cx="10972800" cy="1971675"/>
            <a:chOff x="609600" y="2609850"/>
            <a:chExt cx="10972800" cy="1971675"/>
          </a:xfrm>
        </p:grpSpPr>
        <p:sp>
          <p:nvSpPr>
            <p:cNvPr id="9" name="Rectangle 9"/>
            <p:cNvSpPr/>
            <p:nvPr/>
          </p:nvSpPr>
          <p:spPr>
            <a:xfrm>
              <a:off x="609600" y="2609850"/>
              <a:ext cx="10972800" cy="457200"/>
            </a:xfrm>
            <a:prstGeom prst="rect">
              <a:avLst/>
            </a:prstGeom>
            <a:solidFill>
              <a:srgbClr val="F3F6F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8190" y="2729865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核心用户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68040" y="2729865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使用目的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8190" y="3225165"/>
              <a:ext cx="12458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学生开发者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68040" y="3225165"/>
              <a:ext cx="34061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查看自己提交的风险并改进代码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8190" y="3720465"/>
              <a:ext cx="12458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项目负责人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68040" y="3720465"/>
              <a:ext cx="36461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安排代码审查，了解团队整体风险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8190" y="4215765"/>
              <a:ext cx="12458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教师或助教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68040" y="4215765"/>
              <a:ext cx="460629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查看各小组的项目质量趋势，及时提供指导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09600" y="45529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4DEE8"/>
              </a:solidFill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586740" y="4863465"/>
            <a:ext cx="10740390" cy="1146810"/>
            <a:chOff x="586740" y="4863465"/>
            <a:chExt cx="10740390" cy="1146810"/>
          </a:xfrm>
        </p:grpSpPr>
        <p:sp>
          <p:nvSpPr>
            <p:cNvPr id="20" name="TextBox 20"/>
            <p:cNvSpPr txBox="1"/>
            <p:nvPr/>
          </p:nvSpPr>
          <p:spPr>
            <a:xfrm>
              <a:off x="586740" y="4863465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产品主线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6740" y="5330190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166AC"/>
                  </a:solidFill>
                  <a:latin typeface="Microsoft YaHei"/>
                  <a:ea typeface="Microsoft YaHei"/>
                  <a:cs typeface="Microsoft YaHei"/>
                </a:rPr>
                <a:t>连接课程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6740" y="5644515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166AC"/>
                  </a:solidFill>
                  <a:latin typeface="Microsoft YaHei"/>
                  <a:ea typeface="Microsoft YaHei"/>
                  <a:cs typeface="Microsoft YaHei"/>
                </a:rPr>
                <a:t>项目仓库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72640" y="5482590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6D8299"/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29840" y="5330190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分析每次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29840" y="5644515"/>
              <a:ext cx="5257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提交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25265" y="5482590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6D8299"/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82465" y="5330190"/>
              <a:ext cx="12458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发现高风险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82465" y="5644515"/>
              <a:ext cx="5257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变更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77890" y="5482590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6D8299"/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35090" y="5330190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解释风险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35090" y="5644515"/>
              <a:ext cx="5257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来源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20990" y="5482590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6D8299"/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78190" y="5330190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安排代码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78190" y="5644515"/>
              <a:ext cx="5257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审查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64090" y="5482590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6D8299"/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21290" y="5330190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记录处理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321290" y="5644515"/>
              <a:ext cx="5257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结果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90550" y="6353175"/>
            <a:ext cx="10964228" cy="304800"/>
            <a:chOff x="590550" y="6353175"/>
            <a:chExt cx="10964228" cy="304800"/>
          </a:xfrm>
        </p:grpSpPr>
        <p:sp>
          <p:nvSpPr>
            <p:cNvPr id="39" name="TextBox 39"/>
            <p:cNvSpPr txBox="1"/>
            <p:nvPr/>
          </p:nvSpPr>
          <p:spPr>
            <a:xfrm>
              <a:off x="590550" y="6353175"/>
              <a:ext cx="44386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17286"/>
                  </a:solidFill>
                  <a:latin typeface="Microsoft YaHei"/>
                  <a:ea typeface="Microsoft YaHei"/>
                  <a:cs typeface="Microsoft YaHei"/>
                </a:rPr>
                <a:t>未来可进一步推广至开源社区和中小型研发团队。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96650" y="6353175"/>
              <a:ext cx="25812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17286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571500" y="552450"/>
            <a:ext cx="4276725" cy="609600"/>
            <a:chOff x="571500" y="552450"/>
            <a:chExt cx="4276725" cy="609600"/>
          </a:xfrm>
        </p:grpSpPr>
        <p:sp>
          <p:nvSpPr>
            <p:cNvPr id="3" name="TextBox 3"/>
            <p:cNvSpPr txBox="1"/>
            <p:nvPr/>
          </p:nvSpPr>
          <p:spPr>
            <a:xfrm>
              <a:off x="571500" y="552450"/>
              <a:ext cx="427672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已完成工作与成果展示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1657350"/>
            <a:ext cx="5372100" cy="4181475"/>
            <a:chOff x="609600" y="1657350"/>
            <a:chExt cx="5372100" cy="4181475"/>
          </a:xfrm>
        </p:grpSpPr>
        <p:sp>
          <p:nvSpPr>
            <p:cNvPr id="5" name="Rectangle 5"/>
            <p:cNvSpPr/>
            <p:nvPr/>
          </p:nvSpPr>
          <p:spPr>
            <a:xfrm>
              <a:off x="609600" y="1657350"/>
              <a:ext cx="5372100" cy="533400"/>
            </a:xfrm>
            <a:prstGeom prst="rect">
              <a:avLst/>
            </a:prstGeom>
            <a:solidFill>
              <a:srgbClr val="F3F6FA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8190" y="18249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已完成工作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320290" y="18249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主要内容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8190" y="2406015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产品需求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20290" y="2406015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明确目标用户、使用场景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20290" y="2729865"/>
              <a:ext cx="12458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与功能需求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3105150"/>
              <a:ext cx="5372100" cy="9525"/>
            </a:xfrm>
            <a:custGeom>
              <a:avLst/>
              <a:gdLst/>
              <a:ahLst/>
              <a:cxnLst/>
              <a:rect l="l" t="t" r="r" b="b"/>
              <a:pathLst>
                <a:path w="5372100" h="9525">
                  <a:moveTo>
                    <a:pt x="0" y="0"/>
                  </a:moveTo>
                  <a:lnTo>
                    <a:pt x="5372100" y="0"/>
                  </a:lnTo>
                </a:path>
              </a:pathLst>
            </a:custGeom>
            <a:noFill/>
            <a:ln w="9525">
              <a:solidFill>
                <a:srgbClr val="D4DEE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8190" y="3320415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产品主线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320290" y="3320415"/>
              <a:ext cx="29260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明确提交分析、风险解释、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20290" y="3644265"/>
              <a:ext cx="29260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审查与处理记录的使用流程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4019550"/>
              <a:ext cx="5372100" cy="9525"/>
            </a:xfrm>
            <a:custGeom>
              <a:avLst/>
              <a:gdLst/>
              <a:ahLst/>
              <a:cxnLst/>
              <a:rect l="l" t="t" r="r" b="b"/>
              <a:pathLst>
                <a:path w="5372100" h="9525">
                  <a:moveTo>
                    <a:pt x="0" y="0"/>
                  </a:moveTo>
                  <a:lnTo>
                    <a:pt x="5372100" y="0"/>
                  </a:lnTo>
                </a:path>
              </a:pathLst>
            </a:custGeom>
            <a:noFill/>
            <a:ln w="9525">
              <a:solidFill>
                <a:srgbClr val="D4DEE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8190" y="4234815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小组分工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20290" y="4234815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明确四个角色的主责模块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20290" y="4558665"/>
              <a:ext cx="12458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与工作内容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4933950"/>
              <a:ext cx="5372100" cy="9525"/>
            </a:xfrm>
            <a:custGeom>
              <a:avLst/>
              <a:gdLst/>
              <a:ahLst/>
              <a:cxnLst/>
              <a:rect l="l" t="t" r="r" b="b"/>
              <a:pathLst>
                <a:path w="5372100" h="9525">
                  <a:moveTo>
                    <a:pt x="0" y="0"/>
                  </a:moveTo>
                  <a:lnTo>
                    <a:pt x="5372100" y="0"/>
                  </a:lnTo>
                </a:path>
              </a:pathLst>
            </a:custGeom>
            <a:noFill/>
            <a:ln w="9525">
              <a:solidFill>
                <a:srgbClr val="D4DEE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8190" y="5149215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技术架构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20290" y="5149215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明确系统模块、数据流及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20290" y="5473065"/>
              <a:ext cx="19659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训练与预测的关系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77000" y="1657350"/>
            <a:ext cx="5105400" cy="4191000"/>
            <a:chOff x="6477000" y="1657350"/>
            <a:chExt cx="5105400" cy="4191000"/>
          </a:xfrm>
        </p:grpSpPr>
        <p:sp>
          <p:nvSpPr>
            <p:cNvPr id="24" name="Rectangle 24"/>
            <p:cNvSpPr/>
            <p:nvPr/>
          </p:nvSpPr>
          <p:spPr>
            <a:xfrm>
              <a:off x="6477000" y="1657350"/>
              <a:ext cx="5105400" cy="4191000"/>
            </a:xfrm>
            <a:prstGeom prst="rect">
              <a:avLst/>
            </a:prstGeom>
            <a:solidFill>
              <a:srgbClr val="F3F6FA"/>
            </a:solidFill>
            <a:ln w="9525">
              <a:solidFill>
                <a:srgbClr val="D4DEE8"/>
              </a:solidFill>
              <a:prstDash val="dash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12280" y="2097405"/>
              <a:ext cx="15235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成果展示区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16090" y="3234690"/>
              <a:ext cx="31661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17286"/>
                  </a:solidFill>
                  <a:latin typeface="Microsoft YaHei"/>
                  <a:ea typeface="Microsoft YaHei"/>
                  <a:cs typeface="Microsoft YaHei"/>
                </a:rPr>
                <a:t>放置已有需求文档、产品流程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16090" y="3634740"/>
              <a:ext cx="17259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17286"/>
                  </a:solidFill>
                  <a:latin typeface="Microsoft YaHei"/>
                  <a:ea typeface="Microsoft YaHei"/>
                  <a:cs typeface="Microsoft YaHei"/>
                </a:rPr>
                <a:t>或设计文档截图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19900" y="5000625"/>
              <a:ext cx="356854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17286"/>
                  </a:solidFill>
                  <a:latin typeface="Microsoft YaHei"/>
                  <a:ea typeface="Microsoft YaHei"/>
                  <a:cs typeface="Microsoft YaHei"/>
                </a:rPr>
                <a:t>建议选择1—2张清晰截图，突出关键部分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296650" y="6353175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571500" y="552450"/>
            <a:ext cx="4696778" cy="609600"/>
            <a:chOff x="571500" y="552450"/>
            <a:chExt cx="4696778" cy="609600"/>
          </a:xfrm>
        </p:grpSpPr>
        <p:sp>
          <p:nvSpPr>
            <p:cNvPr id="3" name="TextBox 3"/>
            <p:cNvSpPr txBox="1"/>
            <p:nvPr/>
          </p:nvSpPr>
          <p:spPr>
            <a:xfrm>
              <a:off x="571500" y="552450"/>
              <a:ext cx="469677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技术架构：用户使用系统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82930" y="1943100"/>
            <a:ext cx="10999470" cy="3924300"/>
            <a:chOff x="582930" y="1943100"/>
            <a:chExt cx="10999470" cy="3924300"/>
          </a:xfrm>
        </p:grpSpPr>
        <p:sp>
          <p:nvSpPr>
            <p:cNvPr id="5" name="TextBox 5"/>
            <p:cNvSpPr txBox="1"/>
            <p:nvPr/>
          </p:nvSpPr>
          <p:spPr>
            <a:xfrm>
              <a:off x="582930" y="240220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用户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2095500" y="1943100"/>
              <a:ext cx="2381250" cy="1466850"/>
            </a:xfrm>
            <a:prstGeom prst="rect">
              <a:avLst/>
            </a:prstGeom>
            <a:solidFill>
              <a:srgbClr val="F3F6FA"/>
            </a:solidFill>
            <a:ln w="9525">
              <a:solidFill>
                <a:srgbClr val="D4DEE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278380" y="21164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前端页面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282190" y="2596515"/>
              <a:ext cx="220599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风险列表、提交详情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82190" y="2929890"/>
              <a:ext cx="220599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审查记录、趋势看板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0" y="1943100"/>
              <a:ext cx="2571750" cy="1466850"/>
            </a:xfrm>
            <a:prstGeom prst="rect">
              <a:avLst/>
            </a:prstGeom>
            <a:solidFill>
              <a:srgbClr val="F3F6FA"/>
            </a:solidFill>
            <a:ln w="9525">
              <a:solidFill>
                <a:srgbClr val="D4DEE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97880" y="21164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后端服务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01690" y="2596515"/>
              <a:ext cx="220599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仓库接入、请求管理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01690" y="2929890"/>
              <a:ext cx="220599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预测调用、结果管理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486900" y="1943100"/>
              <a:ext cx="2095500" cy="1466850"/>
            </a:xfrm>
            <a:prstGeom prst="rect">
              <a:avLst/>
            </a:prstGeom>
            <a:solidFill>
              <a:srgbClr val="F3F6FA"/>
            </a:solidFill>
            <a:ln w="9525">
              <a:solidFill>
                <a:srgbClr val="D4DEE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669780" y="21164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数据处理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673590" y="2596515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提交解析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673590" y="2929890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特征提取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0" y="4400550"/>
              <a:ext cx="2571750" cy="1466850"/>
            </a:xfrm>
            <a:prstGeom prst="rect">
              <a:avLst/>
            </a:prstGeom>
            <a:solidFill>
              <a:srgbClr val="F3F6FA"/>
            </a:solidFill>
            <a:ln w="9525">
              <a:solidFill>
                <a:srgbClr val="D4DEE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897880" y="457390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数据存储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01690" y="5053965"/>
              <a:ext cx="19659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项目与提交、特征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01690" y="5387340"/>
              <a:ext cx="220599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预测结果、处理记录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486900" y="4400550"/>
              <a:ext cx="2095500" cy="1466850"/>
            </a:xfrm>
            <a:prstGeom prst="rect">
              <a:avLst/>
            </a:prstGeom>
            <a:solidFill>
              <a:srgbClr val="F3F6FA"/>
            </a:solidFill>
            <a:ln w="9525">
              <a:solidFill>
                <a:srgbClr val="D4DEE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669780" y="457390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预测模型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673590" y="5053965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风险评分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673590" y="5387340"/>
              <a:ext cx="14859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特征贡献解释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219200" y="2152650"/>
            <a:ext cx="9906000" cy="2981325"/>
            <a:chOff x="1219200" y="2152650"/>
            <a:chExt cx="9906000" cy="2981325"/>
          </a:xfrm>
        </p:grpSpPr>
        <p:sp>
          <p:nvSpPr>
            <p:cNvPr id="27" name="Line 27"/>
            <p:cNvSpPr/>
            <p:nvPr/>
          </p:nvSpPr>
          <p:spPr>
            <a:xfrm>
              <a:off x="1219200" y="2667000"/>
              <a:ext cx="800100" cy="1"/>
            </a:xfrm>
            <a:prstGeom prst="line">
              <a:avLst/>
            </a:prstGeom>
            <a:noFill/>
            <a:ln w="19050">
              <a:solidFill>
                <a:srgbClr val="6D8299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610100" y="2152650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17286"/>
                  </a:solidFill>
                  <a:latin typeface="Microsoft YaHei"/>
                  <a:ea typeface="Microsoft YaHei"/>
                  <a:cs typeface="Microsoft YaHei"/>
                </a:rPr>
                <a:t>发送请求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4552950" y="2428875"/>
              <a:ext cx="1085850" cy="1"/>
            </a:xfrm>
            <a:prstGeom prst="line">
              <a:avLst/>
            </a:prstGeom>
            <a:noFill/>
            <a:ln w="19050">
              <a:solidFill>
                <a:srgbClr val="6D8299"/>
              </a:solidFill>
            </a:ln>
          </p:spPr>
        </p:sp>
        <p:sp>
          <p:nvSpPr>
            <p:cNvPr id="30" name="Line 30"/>
            <p:cNvSpPr/>
            <p:nvPr/>
          </p:nvSpPr>
          <p:spPr>
            <a:xfrm flipH="1">
              <a:off x="4552950" y="2867025"/>
              <a:ext cx="1085850" cy="1"/>
            </a:xfrm>
            <a:prstGeom prst="line">
              <a:avLst/>
            </a:prstGeom>
            <a:noFill/>
            <a:ln w="19050">
              <a:solidFill>
                <a:srgbClr val="6D8299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610100" y="3048000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17286"/>
                  </a:solidFill>
                  <a:latin typeface="Microsoft YaHei"/>
                  <a:ea typeface="Microsoft YaHei"/>
                  <a:cs typeface="Microsoft YaHei"/>
                </a:rPr>
                <a:t>返回结果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39150" y="2152650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17286"/>
                  </a:solidFill>
                  <a:latin typeface="Microsoft YaHei"/>
                  <a:ea typeface="Microsoft YaHei"/>
                  <a:cs typeface="Microsoft YaHei"/>
                </a:rPr>
                <a:t>调用处理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8362950" y="2428875"/>
              <a:ext cx="1047750" cy="1"/>
            </a:xfrm>
            <a:prstGeom prst="line">
              <a:avLst/>
            </a:prstGeom>
            <a:noFill/>
            <a:ln w="19050">
              <a:solidFill>
                <a:srgbClr val="6D8299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7000875" y="3486150"/>
              <a:ext cx="1" cy="838200"/>
            </a:xfrm>
            <a:prstGeom prst="line">
              <a:avLst/>
            </a:prstGeom>
            <a:noFill/>
            <a:ln w="19050">
              <a:solidFill>
                <a:srgbClr val="6D8299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95950" y="3657600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17286"/>
                  </a:solidFill>
                  <a:latin typeface="Microsoft YaHei"/>
                  <a:ea typeface="Microsoft YaHei"/>
                  <a:cs typeface="Microsoft YaHei"/>
                </a:rPr>
                <a:t>读取数据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95950" y="395287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17286"/>
                  </a:solidFill>
                  <a:latin typeface="Microsoft YaHei"/>
                  <a:ea typeface="Microsoft YaHei"/>
                  <a:cs typeface="Microsoft YaHei"/>
                </a:rPr>
                <a:t>保存结果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10534650" y="3486150"/>
              <a:ext cx="1" cy="838200"/>
            </a:xfrm>
            <a:prstGeom prst="line">
              <a:avLst/>
            </a:prstGeom>
            <a:noFill/>
            <a:ln w="19050">
              <a:solidFill>
                <a:srgbClr val="6D8299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687050" y="3771900"/>
              <a:ext cx="4381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17286"/>
                  </a:solidFill>
                  <a:latin typeface="Microsoft YaHei"/>
                  <a:ea typeface="Microsoft YaHei"/>
                  <a:cs typeface="Microsoft YaHei"/>
                </a:rPr>
                <a:t>特征</a:t>
              </a:r>
            </a:p>
          </p:txBody>
        </p:sp>
        <p:sp>
          <p:nvSpPr>
            <p:cNvPr id="39" name="Polyline 39"/>
            <p:cNvSpPr/>
            <p:nvPr/>
          </p:nvSpPr>
          <p:spPr>
            <a:xfrm>
              <a:off x="8362950" y="3019425"/>
              <a:ext cx="1047750" cy="2114550"/>
            </a:xfrm>
            <a:custGeom>
              <a:avLst/>
              <a:gdLst/>
              <a:ahLst/>
              <a:cxnLst/>
              <a:rect l="l" t="t" r="r" b="b"/>
              <a:pathLst>
                <a:path w="1047750" h="2114550">
                  <a:moveTo>
                    <a:pt x="1047750" y="2114550"/>
                  </a:moveTo>
                  <a:lnTo>
                    <a:pt x="533400" y="2114550"/>
                  </a:lnTo>
                  <a:lnTo>
                    <a:pt x="533400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6D8299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924800" y="364807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17286"/>
                  </a:solidFill>
                  <a:latin typeface="Microsoft YaHei"/>
                  <a:ea typeface="Microsoft YaHei"/>
                  <a:cs typeface="Microsoft YaHei"/>
                </a:rPr>
                <a:t>风险分数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24800" y="3943350"/>
              <a:ext cx="6381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17286"/>
                  </a:solidFill>
                  <a:latin typeface="Microsoft YaHei"/>
                  <a:ea typeface="Microsoft YaHei"/>
                  <a:cs typeface="Microsoft YaHei"/>
                </a:rPr>
                <a:t>及解释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90550" y="6162675"/>
            <a:ext cx="10964228" cy="495300"/>
            <a:chOff x="590550" y="6162675"/>
            <a:chExt cx="10964228" cy="495300"/>
          </a:xfrm>
        </p:grpSpPr>
        <p:sp>
          <p:nvSpPr>
            <p:cNvPr id="43" name="TextBox 43"/>
            <p:cNvSpPr txBox="1"/>
            <p:nvPr/>
          </p:nvSpPr>
          <p:spPr>
            <a:xfrm>
              <a:off x="590550" y="6162675"/>
              <a:ext cx="76390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17286"/>
                  </a:solidFill>
                  <a:latin typeface="Microsoft YaHei"/>
                  <a:ea typeface="Microsoft YaHei"/>
                  <a:cs typeface="Microsoft YaHei"/>
                </a:rPr>
                <a:t>选择一次提交，后端读取数据并提取特征，调用模型预测，保存结果并返回前端展示。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96650" y="6353175"/>
              <a:ext cx="25812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17286"/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571500" y="552450"/>
            <a:ext cx="5956935" cy="609600"/>
            <a:chOff x="571500" y="552450"/>
            <a:chExt cx="5956935" cy="609600"/>
          </a:xfrm>
        </p:grpSpPr>
        <p:sp>
          <p:nvSpPr>
            <p:cNvPr id="3" name="TextBox 3"/>
            <p:cNvSpPr txBox="1"/>
            <p:nvPr/>
          </p:nvSpPr>
          <p:spPr>
            <a:xfrm>
              <a:off x="571500" y="552450"/>
              <a:ext cx="595693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技术架构：模型训练与在线预测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82930" y="1430655"/>
            <a:ext cx="9867900" cy="1274445"/>
            <a:chOff x="582930" y="1430655"/>
            <a:chExt cx="9867900" cy="1274445"/>
          </a:xfrm>
        </p:grpSpPr>
        <p:sp>
          <p:nvSpPr>
            <p:cNvPr id="5" name="TextBox 5"/>
            <p:cNvSpPr txBox="1"/>
            <p:nvPr/>
          </p:nvSpPr>
          <p:spPr>
            <a:xfrm>
              <a:off x="582930" y="14306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166AC"/>
                  </a:solidFill>
                  <a:latin typeface="Microsoft YaHei"/>
                  <a:ea typeface="Microsoft YaHei"/>
                  <a:cs typeface="Microsoft YaHei"/>
                </a:rPr>
                <a:t>离线训练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86740" y="1996440"/>
              <a:ext cx="14859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真实开源项目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86740" y="2339340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历史数据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830830" y="2125980"/>
              <a:ext cx="20735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6D8299"/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39490" y="1996440"/>
              <a:ext cx="9218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SZZ标注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39490" y="2339340"/>
              <a:ext cx="12458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与特征构建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783580" y="2125980"/>
              <a:ext cx="20735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6D8299"/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92240" y="1996440"/>
              <a:ext cx="12458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多模型训练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92240" y="2339340"/>
              <a:ext cx="7658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与评估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55380" y="2125980"/>
              <a:ext cx="20735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6D8299"/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44990" y="1996440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166AC"/>
                  </a:solidFill>
                  <a:latin typeface="Microsoft YaHei"/>
                  <a:ea typeface="Microsoft YaHei"/>
                  <a:cs typeface="Microsoft YaHei"/>
                </a:rPr>
                <a:t>模型选型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4990" y="2339340"/>
              <a:ext cx="7658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166AC"/>
                  </a:solidFill>
                  <a:latin typeface="Microsoft YaHei"/>
                  <a:ea typeface="Microsoft YaHei"/>
                  <a:cs typeface="Microsoft YaHei"/>
                </a:rPr>
                <a:t>与保存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05750" y="2724150"/>
            <a:ext cx="2819400" cy="857250"/>
            <a:chOff x="7905750" y="2724150"/>
            <a:chExt cx="2819400" cy="857250"/>
          </a:xfrm>
        </p:grpSpPr>
        <p:sp>
          <p:nvSpPr>
            <p:cNvPr id="18" name="Polyline 18"/>
            <p:cNvSpPr/>
            <p:nvPr/>
          </p:nvSpPr>
          <p:spPr>
            <a:xfrm>
              <a:off x="7905750" y="2724150"/>
              <a:ext cx="2819400" cy="847725"/>
            </a:xfrm>
            <a:custGeom>
              <a:avLst/>
              <a:gdLst/>
              <a:ahLst/>
              <a:cxnLst/>
              <a:rect l="l" t="t" r="r" b="b"/>
              <a:pathLst>
                <a:path w="2819400" h="847725">
                  <a:moveTo>
                    <a:pt x="2819400" y="0"/>
                  </a:moveTo>
                  <a:lnTo>
                    <a:pt x="2819400" y="371475"/>
                  </a:lnTo>
                  <a:lnTo>
                    <a:pt x="0" y="371475"/>
                  </a:lnTo>
                  <a:lnTo>
                    <a:pt x="0" y="847725"/>
                  </a:lnTo>
                </a:path>
              </a:pathLst>
            </a:custGeom>
            <a:noFill/>
            <a:ln w="19050">
              <a:solidFill>
                <a:srgbClr val="6D8299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15300" y="3276600"/>
              <a:ext cx="20383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17286"/>
                  </a:solidFill>
                  <a:latin typeface="Microsoft YaHei"/>
                  <a:ea typeface="Microsoft YaHei"/>
                  <a:cs typeface="Microsoft YaHei"/>
                </a:rPr>
                <a:t>保存的模型供在线调用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82930" y="3145155"/>
            <a:ext cx="10347960" cy="1274445"/>
            <a:chOff x="582930" y="3145155"/>
            <a:chExt cx="10347960" cy="1274445"/>
          </a:xfrm>
        </p:grpSpPr>
        <p:sp>
          <p:nvSpPr>
            <p:cNvPr id="21" name="TextBox 21"/>
            <p:cNvSpPr txBox="1"/>
            <p:nvPr/>
          </p:nvSpPr>
          <p:spPr>
            <a:xfrm>
              <a:off x="582930" y="31451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166AC"/>
                  </a:solidFill>
                  <a:latin typeface="Microsoft YaHei"/>
                  <a:ea typeface="Microsoft YaHei"/>
                  <a:cs typeface="Microsoft YaHei"/>
                </a:rPr>
                <a:t>在线预测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6740" y="3710940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课程项目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6740" y="4053840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的新提交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30830" y="3840480"/>
              <a:ext cx="20735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6D8299"/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39490" y="3710940"/>
              <a:ext cx="7658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同规则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39490" y="4053840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特征提取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83580" y="3840480"/>
              <a:ext cx="20735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6D8299"/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92240" y="3710940"/>
              <a:ext cx="12458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已训练模型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92240" y="4053840"/>
              <a:ext cx="5257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预测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55380" y="3840480"/>
              <a:ext cx="20735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6D8299"/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44990" y="3710940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风险解释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44990" y="4053840"/>
              <a:ext cx="14859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与优先级排序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86740" y="4714875"/>
            <a:ext cx="10995660" cy="1590675"/>
            <a:chOff x="586740" y="4714875"/>
            <a:chExt cx="10995660" cy="1590675"/>
          </a:xfrm>
        </p:grpSpPr>
        <p:sp>
          <p:nvSpPr>
            <p:cNvPr id="34" name="Line 34"/>
            <p:cNvSpPr/>
            <p:nvPr/>
          </p:nvSpPr>
          <p:spPr>
            <a:xfrm>
              <a:off x="609600" y="47148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4DEE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86740" y="4977765"/>
              <a:ext cx="357416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训练与预测共用特征提取规则。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92240" y="4977765"/>
              <a:ext cx="407822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预测只使用提交当时可获得的信息。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86740" y="5568315"/>
              <a:ext cx="41262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模型提前训练，用户使用时直接调用。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86740" y="5939790"/>
              <a:ext cx="65265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开源数据上的评估表现，需要进一步通过课程项目试用验证。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296650" y="6353175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571500" y="552450"/>
            <a:ext cx="3856673" cy="609600"/>
            <a:chOff x="571500" y="552450"/>
            <a:chExt cx="3856673" cy="609600"/>
          </a:xfrm>
        </p:grpSpPr>
        <p:sp>
          <p:nvSpPr>
            <p:cNvPr id="3" name="TextBox 3"/>
            <p:cNvSpPr txBox="1"/>
            <p:nvPr/>
          </p:nvSpPr>
          <p:spPr>
            <a:xfrm>
              <a:off x="571500" y="552450"/>
              <a:ext cx="385667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小组分工与模块责任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1504950"/>
            <a:ext cx="10972800" cy="4600575"/>
            <a:chOff x="609600" y="1504950"/>
            <a:chExt cx="10972800" cy="4600575"/>
          </a:xfrm>
        </p:grpSpPr>
        <p:sp>
          <p:nvSpPr>
            <p:cNvPr id="5" name="Rectangle 5"/>
            <p:cNvSpPr/>
            <p:nvPr/>
          </p:nvSpPr>
          <p:spPr>
            <a:xfrm>
              <a:off x="609600" y="1504950"/>
              <a:ext cx="10972800" cy="495300"/>
            </a:xfrm>
            <a:prstGeom prst="rect">
              <a:avLst/>
            </a:prstGeom>
            <a:solidFill>
              <a:srgbClr val="F3F6FA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8190" y="165354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角色与人员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806190" y="16535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主责模块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92190" y="16535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核心工作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8190" y="2253615"/>
              <a:ext cx="245262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A．数据与特征工程师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8190" y="2596515"/>
              <a:ext cx="7658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166AC"/>
                  </a:solidFill>
                  <a:latin typeface="Microsoft YaHei"/>
                  <a:ea typeface="Microsoft YaHei"/>
                  <a:cs typeface="Microsoft YaHei"/>
                </a:rPr>
                <a:t>白沁禾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06190" y="2253615"/>
              <a:ext cx="12458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数据采集、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06190" y="2596515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特征工程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92190" y="2139315"/>
              <a:ext cx="416223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Git仓库解析、SZZ、Kamei 14维特征、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92190" y="2463165"/>
              <a:ext cx="34061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数据清洗与持久化、训练集构建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3048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4DEE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8190" y="3301365"/>
              <a:ext cx="169652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B．模型工程师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8190" y="3644265"/>
              <a:ext cx="7658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166AC"/>
                  </a:solidFill>
                  <a:latin typeface="Microsoft YaHei"/>
                  <a:ea typeface="Microsoft YaHei"/>
                  <a:cs typeface="Microsoft YaHei"/>
                </a:rPr>
                <a:t>张艺馨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06190" y="3301365"/>
              <a:ext cx="12458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模型训练、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06190" y="3644265"/>
              <a:ext cx="12458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评估与解释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92190" y="3177540"/>
              <a:ext cx="387419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至少8个模型（经典ML与DL）、两类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92190" y="3501390"/>
              <a:ext cx="41262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评估指标、数据划分、模型对比选型、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92190" y="3825240"/>
              <a:ext cx="129387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SHAP等解释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09600" y="4095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4DEE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8190" y="4349115"/>
              <a:ext cx="245262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C．后端与系统工程师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8190" y="4692015"/>
              <a:ext cx="5257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166AC"/>
                  </a:solidFill>
                  <a:latin typeface="Microsoft YaHei"/>
                  <a:ea typeface="Microsoft YaHei"/>
                  <a:cs typeface="Microsoft YaHei"/>
                </a:rPr>
                <a:t>侯洁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806190" y="4349115"/>
              <a:ext cx="12458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预测服务、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06190" y="4692015"/>
              <a:ext cx="7658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工程化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92190" y="4225290"/>
              <a:ext cx="350215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在线预测API、数据与模型封装、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92190" y="4549140"/>
              <a:ext cx="329812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仓库集成或Webhook、CI/CD、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92190" y="4872990"/>
              <a:ext cx="14859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部署与稳定性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09600" y="5143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4DEE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8190" y="5396865"/>
              <a:ext cx="245262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D．前端与产品工程师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8190" y="5739765"/>
              <a:ext cx="7658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166AC"/>
                  </a:solidFill>
                  <a:latin typeface="Microsoft YaHei"/>
                  <a:ea typeface="Microsoft YaHei"/>
                  <a:cs typeface="Microsoft YaHei"/>
                </a:rPr>
                <a:t>张欣悦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806190" y="5396865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可视化、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806190" y="5739765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产品体验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92190" y="5273040"/>
              <a:ext cx="41262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风险列表、趋势看板、详情页、结果与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92190" y="5596890"/>
              <a:ext cx="41262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解释展示、交互打磨、产品文档与演示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90550" y="6353175"/>
            <a:ext cx="10964228" cy="304800"/>
            <a:chOff x="590550" y="6353175"/>
            <a:chExt cx="10964228" cy="304800"/>
          </a:xfrm>
        </p:grpSpPr>
        <p:sp>
          <p:nvSpPr>
            <p:cNvPr id="39" name="TextBox 39"/>
            <p:cNvSpPr txBox="1"/>
            <p:nvPr/>
          </p:nvSpPr>
          <p:spPr>
            <a:xfrm>
              <a:off x="590550" y="6353175"/>
              <a:ext cx="40386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17286"/>
                  </a:solidFill>
                  <a:latin typeface="Microsoft YaHei"/>
                  <a:ea typeface="Microsoft YaHei"/>
                  <a:cs typeface="Microsoft YaHei"/>
                </a:rPr>
                <a:t>以上为工作分配，不表示所有功能已经实现。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96650" y="6353175"/>
              <a:ext cx="25812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17286"/>
                  </a:solidFill>
                  <a:latin typeface="Microsoft YaHei"/>
                  <a:ea typeface="Microsoft YaHei"/>
                  <a:cs typeface="Microsoft YaHei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571500" y="552450"/>
            <a:ext cx="3856673" cy="609600"/>
            <a:chOff x="571500" y="552450"/>
            <a:chExt cx="3856673" cy="609600"/>
          </a:xfrm>
        </p:grpSpPr>
        <p:sp>
          <p:nvSpPr>
            <p:cNvPr id="3" name="TextBox 3"/>
            <p:cNvSpPr txBox="1"/>
            <p:nvPr/>
          </p:nvSpPr>
          <p:spPr>
            <a:xfrm>
              <a:off x="571500" y="552450"/>
              <a:ext cx="385667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当前问题与应对计划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9600" y="1619250"/>
            <a:ext cx="10972800" cy="4581525"/>
            <a:chOff x="609600" y="1619250"/>
            <a:chExt cx="10972800" cy="4581525"/>
          </a:xfrm>
        </p:grpSpPr>
        <p:sp>
          <p:nvSpPr>
            <p:cNvPr id="5" name="Rectangle 5"/>
            <p:cNvSpPr/>
            <p:nvPr/>
          </p:nvSpPr>
          <p:spPr>
            <a:xfrm>
              <a:off x="609600" y="1619250"/>
              <a:ext cx="10972800" cy="495300"/>
            </a:xfrm>
            <a:prstGeom prst="rect">
              <a:avLst/>
            </a:prstGeom>
            <a:solidFill>
              <a:srgbClr val="F3F6FA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8190" y="17678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当前问题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634740" y="17678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具体表现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44740" y="17678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应对计划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8190" y="2406015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首个可用版本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8190" y="2748915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边界不够明确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34740" y="2272665"/>
              <a:ext cx="29260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产品主线已明确，首次交付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34740" y="2596515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功能与验收标准仍需细化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44740" y="2272665"/>
              <a:ext cx="34061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确定首次演示必须跑通的流程，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44740" y="2596515"/>
              <a:ext cx="31661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划分优先实现与后续扩展功能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3143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4DEE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8190" y="3491865"/>
              <a:ext cx="18099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实验工作量较大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34740" y="3301365"/>
              <a:ext cx="25780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至少8个模型，涉及两类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34740" y="3625215"/>
              <a:ext cx="24460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指标、模型对比与解释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44740" y="3301365"/>
              <a:ext cx="29260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先跑通基线模型，统一实验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44740" y="3625215"/>
              <a:ext cx="24460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流程，再逐步扩展模型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09600" y="41719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4DEE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8190" y="4463415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模块交付约定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8190" y="4806315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不够具体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34740" y="4330065"/>
              <a:ext cx="29260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数据格式、特征顺序、模型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34740" y="4653915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文件及接口结构尚需对齐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44740" y="4330065"/>
              <a:ext cx="29260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制定输入输出规范，用公共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44740" y="4653915"/>
              <a:ext cx="19659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样例数据提前联调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09600" y="5200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4DEE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8190" y="5492115"/>
              <a:ext cx="18099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训练数据与目标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8190" y="5835015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用户存在差异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34740" y="5358765"/>
              <a:ext cx="29260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开源项目与高校课程项目的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34740" y="5682615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规模、提交习惯存在差异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44740" y="5358765"/>
              <a:ext cx="31661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分开开展开源数据评估与课程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44740" y="5682615"/>
              <a:ext cx="24460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项目试用，验证适用性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296650" y="6353175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571500" y="552450"/>
            <a:ext cx="4276725" cy="609600"/>
            <a:chOff x="571500" y="552450"/>
            <a:chExt cx="4276725" cy="609600"/>
          </a:xfrm>
        </p:grpSpPr>
        <p:sp>
          <p:nvSpPr>
            <p:cNvPr id="3" name="TextBox 3"/>
            <p:cNvSpPr txBox="1"/>
            <p:nvPr/>
          </p:nvSpPr>
          <p:spPr>
            <a:xfrm>
              <a:off x="571500" y="552450"/>
              <a:ext cx="427672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下一步计划与阶段交付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1466850"/>
            <a:ext cx="10972800" cy="4057650"/>
            <a:chOff x="609600" y="1466850"/>
            <a:chExt cx="10972800" cy="4057650"/>
          </a:xfrm>
        </p:grpSpPr>
        <p:sp>
          <p:nvSpPr>
            <p:cNvPr id="5" name="Rectangle 5"/>
            <p:cNvSpPr/>
            <p:nvPr/>
          </p:nvSpPr>
          <p:spPr>
            <a:xfrm>
              <a:off x="609600" y="1466850"/>
              <a:ext cx="10972800" cy="495300"/>
            </a:xfrm>
            <a:prstGeom prst="rect">
              <a:avLst/>
            </a:prstGeom>
            <a:solidFill>
              <a:srgbClr val="F3F6FA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8190" y="161544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阶段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729990" y="16154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重点工作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01940" y="16154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阶段交付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8190" y="2148840"/>
              <a:ext cx="19485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1．明确交付范围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8190" y="24726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与协作规范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29990" y="2091690"/>
              <a:ext cx="34061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确定首次可用功能及验收标准，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29990" y="2415540"/>
              <a:ext cx="220599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统一数据与接口格式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01940" y="2091690"/>
              <a:ext cx="24460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166AC"/>
                  </a:solidFill>
                  <a:latin typeface="Microsoft YaHei"/>
                  <a:ea typeface="Microsoft YaHei"/>
                  <a:cs typeface="Microsoft YaHei"/>
                </a:rPr>
                <a:t>功能清单、接口约定、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01940" y="2415540"/>
              <a:ext cx="14859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166AC"/>
                  </a:solidFill>
                  <a:latin typeface="Microsoft YaHei"/>
                  <a:ea typeface="Microsoft YaHei"/>
                  <a:cs typeface="Microsoft YaHei"/>
                </a:rPr>
                <a:t>公共样例数据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2876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4DEE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8190" y="3063240"/>
              <a:ext cx="144449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2．完成数据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8190" y="33870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与模型基线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29990" y="2929890"/>
              <a:ext cx="34061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跑通数据采集、标注、特征提取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29990" y="3234690"/>
              <a:ext cx="34061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和基线评估，逐步扩展模型实验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01940" y="2929890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166AC"/>
                  </a:solidFill>
                  <a:latin typeface="Microsoft YaHei"/>
                  <a:ea typeface="Microsoft YaHei"/>
                  <a:cs typeface="Microsoft YaHei"/>
                </a:rPr>
                <a:t>可复现的数据处理流程、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01940" y="3253740"/>
              <a:ext cx="17259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166AC"/>
                  </a:solidFill>
                  <a:latin typeface="Microsoft YaHei"/>
                  <a:ea typeface="Microsoft YaHei"/>
                  <a:cs typeface="Microsoft YaHei"/>
                </a:rPr>
                <a:t>模型与评估报告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" y="37909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4DEE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8190" y="4110990"/>
              <a:ext cx="19485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3．完成系统联调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29990" y="3920490"/>
              <a:ext cx="34061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连接仓库接入、预测、风险解释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29990" y="4244340"/>
              <a:ext cx="17259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与审查记录功能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01940" y="4110990"/>
              <a:ext cx="24460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166AC"/>
                  </a:solidFill>
                  <a:latin typeface="Microsoft YaHei"/>
                  <a:ea typeface="Microsoft YaHei"/>
                  <a:cs typeface="Microsoft YaHei"/>
                </a:rPr>
                <a:t>可运行的完整使用流程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9600" y="4705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4DEE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58190" y="5025390"/>
              <a:ext cx="19485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4．开展场景验证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29990" y="4834890"/>
              <a:ext cx="31661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邀请课程团队试用，收集反馈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29990" y="5158740"/>
              <a:ext cx="19659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3444"/>
                  </a:solidFill>
                  <a:latin typeface="Microsoft YaHei"/>
                  <a:ea typeface="Microsoft YaHei"/>
                  <a:cs typeface="Microsoft YaHei"/>
                </a:rPr>
                <a:t>并检查模型适用性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01940" y="4834890"/>
              <a:ext cx="220599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166AC"/>
                  </a:solidFill>
                  <a:latin typeface="Microsoft YaHei"/>
                  <a:ea typeface="Microsoft YaHei"/>
                  <a:cs typeface="Microsoft YaHei"/>
                </a:rPr>
                <a:t>试用记录、问题清单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01940" y="5158740"/>
              <a:ext cx="12458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166AC"/>
                  </a:solidFill>
                  <a:latin typeface="Microsoft YaHei"/>
                  <a:ea typeface="Microsoft YaHei"/>
                  <a:cs typeface="Microsoft YaHei"/>
                </a:rPr>
                <a:t>与改进计划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82930" y="5850255"/>
            <a:ext cx="10971848" cy="826770"/>
            <a:chOff x="582930" y="5850255"/>
            <a:chExt cx="10971848" cy="826770"/>
          </a:xfrm>
        </p:grpSpPr>
        <p:sp>
          <p:nvSpPr>
            <p:cNvPr id="34" name="TextBox 34"/>
            <p:cNvSpPr txBox="1"/>
            <p:nvPr/>
          </p:nvSpPr>
          <p:spPr>
            <a:xfrm>
              <a:off x="582930" y="5850255"/>
              <a:ext cx="475792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下一阶段重点是完成首个可用流程，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82930" y="6250305"/>
              <a:ext cx="652214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8324F"/>
                  </a:solidFill>
                  <a:latin typeface="Microsoft YaHei"/>
                  <a:ea typeface="Microsoft YaHei"/>
                  <a:cs typeface="Microsoft YaHei"/>
                </a:rPr>
                <a:t>并验证预测结果能否帮助课程团队开展代码审查。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96650" y="6353175"/>
              <a:ext cx="25812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17286"/>
                  </a:solidFill>
                  <a:latin typeface="Microsoft YaHei"/>
                  <a:ea typeface="Microsoft YaHei"/>
                  <a:cs typeface="Microsoft YaHei"/>
                </a:rPr>
                <a:t>08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2026-10-09T05:12:57Z</dcterms:created>
  <dcterms:modified xsi:type="dcterms:W3CDTF">2026-10-09T05:12:57Z</dcterms:modified>
  <cp:category/>
  <cp:contentStatus/>
</cp:coreProperties>
</file>