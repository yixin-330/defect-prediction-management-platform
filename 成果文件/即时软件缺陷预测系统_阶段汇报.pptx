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建议用时：20秒。</a:t>
            </a:r>
          </a:p>
          <a:p>
            <a:r>
              <a:t>大家好，我们汇报即时软件缺陷预测系统的阶段进展。系统面向高校软件工程课程团队，提供代码提交风险分析和审查辅助。目前已完成产品需求、产品主线、小组分工和技术架构设计。团队成员是白沁禾、张艺馨、侯洁、张欣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建议用时：1分20秒。</a:t>
            </a:r>
          </a:p>
          <a:p>
            <a:r>
              <a:t>我们的目标用户是代码审查资源有限的开发团队，首批聚焦高校软件工程课程团队。系统使用真实开源项目历史数据训练JIT，也就是即时软件缺陷预测模型，对一次代码提交进行风险预测、解释和排序。它为代码审查提供参考，帮助学生团队建立规范的流程，也为教师提供项目质量趋势参考。</a:t>
            </a:r>
          </a:p>
          <a:p>
            <a:r>
              <a:t>三类用户关注点不同：学生开发者关注自己的提交风险和代码改进，项目负责人关注审查安排和团队整体风险，教师或助教关注各小组的质量趋势和指导时机。</a:t>
            </a:r>
          </a:p>
          <a:p>
            <a:r>
              <a:t>完整产品主线是：连接课程项目仓库，分析每次提交，发现高风险变更，解释风险来源，安排代码审查，最后记录处理结果。这里描述完整使用过程，首次交付哪些功能将在下一阶段进一步确定。未来还可推广至开源社区和中小型研发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建议用时：1分钟。</a:t>
            </a:r>
          </a:p>
          <a:p>
            <a:r>
              <a:t>目前完成的是四项设计工作。产品需求明确了目标用户、使用场景和功能需求，为后续确定交付范围提供依据。产品主线明确了提交分析、风险解释、审查和处理记录流程，为页面和接口设计提供依据。小组分工明确了四个角色的主责模块和工作内容，为协作提供依据。技术架构明确了系统模块、数据流及模型训练和预测的关系，为开发与联调提供依据。</a:t>
            </a:r>
          </a:p>
          <a:p>
            <a:r>
              <a:t>右侧用于展示已有需求文档、流程或设计文档截图。展示时选择1至2张清晰截图并指出关键部分。当前报告没有确认的开发完成率、模型效果或用户数据。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建议用时：1分10秒。</a:t>
            </a:r>
          </a:p>
          <a:p>
            <a:r>
              <a:t>用户通过前端选择项目，查看风险列表、提交详情、审查记录和趋势看板。前端把请求发送给后端，后端负责仓库接入、请求管理、预测调用和结果管理，并把处理结果返回前端。</a:t>
            </a:r>
          </a:p>
          <a:p>
            <a:r>
              <a:t>后端从数据存储读取项目、提交和特征信息，预测和审查处理结果也保存在这里。后端调用数据处理模块解析提交、提取特征。提取结果送入预测模型，模型返回风险评分和特征贡献解释。</a:t>
            </a:r>
          </a:p>
          <a:p>
            <a:r>
              <a:t>因此一次使用过程是：选择提交，后端读取数据、提取特征并调用模型，保存结果，再返回前端展示。图示说明模块和数据关系。技术栈按团队最终选型确定，当前没有补入尚未确认的选型。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建议用时：1分10秒。</a:t>
            </a:r>
          </a:p>
          <a:p>
            <a:r>
              <a:t>这里区分离线训练和在线预测。离线阶段从真实开源项目历史数据出发，使用SZZ标注并构建特征，完成多模型训练、评估，再选型和保存模型。</a:t>
            </a:r>
          </a:p>
          <a:p>
            <a:r>
              <a:t>在线阶段面对课程项目的新提交，按相同规则提取特征，直接调用已经训练好的模型，再给出风险解释和优先级排序。SZZ标签用于历史训练和评估，在线预测不需要等待未来的修复结果。</a:t>
            </a:r>
          </a:p>
          <a:p>
            <a:r>
              <a:t>两条原则是：训练和预测共用特征提取规则，预测只使用提交当时能够获得的信息。这样可以避免把未来信息引入预测。模型提前训练，用户使用时直接调用。开源数据上的评估表现还需要通过课程项目试用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建议用时：1分钟。</a:t>
            </a:r>
          </a:p>
          <a:p>
            <a:r>
              <a:t>白沁禾负责数据与特征工程，包括Git仓库解析、SZZ、Kamei 14维特征、数据清洗和持久化，以及训练集构建。技能侧重Python、Git和数据挖掘，可选扩展语义特征。</a:t>
            </a:r>
          </a:p>
          <a:p>
            <a:r>
              <a:t>张艺馨负责模型训练、评估和解释，计划至少比较8个经典机器学习和深度学习模型，并覆盖Effort-unaware与Effort-aware两类评估指标，完成数据划分、选型和SHAP等解释。技能侧重机器学习、深度学习和Sklearn/PyTorch。</a:t>
            </a:r>
          </a:p>
          <a:p>
            <a:r>
              <a:t>侯洁负责预测服务与工程化，包括在线预测API、数据与模型封装、仓库集成或Webhook、CI/CD、部署和稳定性。技能侧重FastAPI/Flask、Docker和GitHub Actions。</a:t>
            </a:r>
          </a:p>
          <a:p>
            <a:r>
              <a:t>张欣悦负责前端与产品体验，包括风险列表、趋势看板、详情页、结果和解释展示、交互打磨、产品文档和演示。技能侧重Vue/React、ECharts和UI设计。此页说明工作分配，不代表功能已经全部实现。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建议用时：1分20秒。</a:t>
            </a:r>
          </a:p>
          <a:p>
            <a:r>
              <a:t>当前有四项需要解决或验证的事项。第一，产品主线已明确，但首个可用版本的功能和验收标准还不够具体，需要确定首次演示必须跑通的流程，并区分优先实现和后续扩展功能。</a:t>
            </a:r>
          </a:p>
          <a:p>
            <a:r>
              <a:t>第二，至少8个模型、两类指标、对比与解释带来较大实验工作量，应先跑通基线、统一实验流程，再逐步扩展。</a:t>
            </a:r>
          </a:p>
          <a:p>
            <a:r>
              <a:t>第三，模块间的数据格式、特征顺序、模型文件和接口结构需要对齐，应制定输入输出规范，并使用公共样例数据提前联调。</a:t>
            </a:r>
          </a:p>
          <a:p>
            <a:r>
              <a:t>第四，开源项目和课程项目在规模与提交习惯上存在差异。因此开源数据评估和课程项目试用分别开展，进一步验证适用性。每个问题对应一个具体行动，后续按这些行动推进。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建议用时：1分20秒。</a:t>
            </a:r>
          </a:p>
          <a:p>
            <a:r>
              <a:t>下一步按四个阶段推进。第一阶段明确交付范围与协作规范，输出功能清单、接口约定和公共样例数据。第二阶段完成数据与模型基线，跑通采集、标注、特征提取和基线评估，再逐步扩展模型，交付可复现的数据处理流程、模型和评估报告。</a:t>
            </a:r>
          </a:p>
          <a:p>
            <a:r>
              <a:t>第三阶段完成系统联调，连接仓库接入、预测、风险解释和审查记录，形成可运行的完整使用流程。第四阶段邀请课程团队试用，收集反馈、检查适用性，输出试用记录、问题清单和改进计划。</a:t>
            </a:r>
          </a:p>
          <a:p>
            <a:r>
              <a:t>具体日期将结合课程截止时间和团队排期确定。下一阶段重点是完成首个可用流程，并验证预测结果能否帮助课程团队开展代码审查。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cover-title"/>
          <p:cNvSpPr>
            <a:spLocks noGrp="1"/>
          </p:cNvSpPr>
          <p:nvPr/>
        </p:nvSpPr>
        <p:spPr>
          <a:xfrm>
            <a:off x="762000" y="1895094"/>
            <a:ext cx="7086600" cy="6934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9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9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9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即时软件缺陷预测系统阶段汇报</a:t>
            </a:r>
            <a:endParaRPr sz="3900" b="1">
              <a:solidFill>
                <a:srgbClr val="1832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762000" y="2833116"/>
            <a:ext cx="76200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面向高校软件工程课程团队的代码提交风险分析与审查辅助系统</a:t>
            </a:r>
            <a:endParaRPr sz="2100" b="0">
              <a:solidFill>
                <a:srgbClr val="263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762000" y="3957828"/>
            <a:ext cx="5638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已完成产品需求、产品主线、小组分工与技术架构设计</a:t>
            </a:r>
            <a:endParaRPr sz="1800" b="0">
              <a:solidFill>
                <a:srgbClr val="6172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762000" y="4986528"/>
            <a:ext cx="4495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团队成员：</a:t>
            </a:r>
            <a:r>
              <a:rPr lang="zh-CN"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张艺馨、</a:t>
            </a:r>
            <a:r>
              <a: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白沁禾、侯洁、张欣悦</a:t>
            </a:r>
            <a:endParaRPr sz="1800" b="0">
              <a:solidFill>
                <a:srgbClr val="263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slide-title"/>
          <p:cNvSpPr>
            <a:spLocks noGrp="1"/>
          </p:cNvSpPr>
          <p:nvPr/>
        </p:nvSpPr>
        <p:spPr>
          <a:xfrm>
            <a:off x="609600" y="487680"/>
            <a:ext cx="3581400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0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产品定位与产品主线</a:t>
            </a:r>
            <a:endParaRPr sz="3000" b="1">
              <a:solidFill>
                <a:srgbClr val="1832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1281303"/>
            <a:ext cx="72390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面向代码审查资源有限的开发团队，首批聚焦高校软件工程课程团队。</a:t>
            </a:r>
            <a:endParaRPr sz="1800" b="0">
              <a:solidFill>
                <a:srgbClr val="263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609600" y="1652778"/>
            <a:ext cx="8814054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基于真实开源项目训练JIT缺陷预测模型，对提交进行风险预测、解释与优先级排序，</a:t>
            </a:r>
            <a:endParaRPr sz="1800" b="0">
              <a:solidFill>
                <a:srgbClr val="263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609600" y="2024253"/>
            <a:ext cx="74676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辅助学生团队建立规范的代码审查流程，为教师提供项目质量趋势参考。</a:t>
            </a:r>
            <a:endParaRPr sz="1800" b="0">
              <a:solidFill>
                <a:srgbClr val="263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609600" y="4824603"/>
            <a:ext cx="1066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产品主线</a:t>
            </a:r>
            <a:endParaRPr sz="1800" b="1">
              <a:solidFill>
                <a:srgbClr val="1832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609600" y="5291328"/>
            <a:ext cx="1066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2166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2166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166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连接课程</a:t>
            </a:r>
            <a:endParaRPr sz="1800" b="0">
              <a:solidFill>
                <a:srgbClr val="2166A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609600" y="5605653"/>
            <a:ext cx="1066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2166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2166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166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项目仓库</a:t>
            </a:r>
            <a:endParaRPr sz="1800" b="0">
              <a:solidFill>
                <a:srgbClr val="2166A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7"/>
          <p:cNvSpPr>
            <a:spLocks noGrp="1"/>
          </p:cNvSpPr>
          <p:nvPr/>
        </p:nvSpPr>
        <p:spPr>
          <a:xfrm>
            <a:off x="2095500" y="5443728"/>
            <a:ext cx="3810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6D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6D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6D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800" b="0">
              <a:solidFill>
                <a:srgbClr val="6D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8"/>
          <p:cNvSpPr>
            <a:spLocks noGrp="1"/>
          </p:cNvSpPr>
          <p:nvPr/>
        </p:nvSpPr>
        <p:spPr>
          <a:xfrm>
            <a:off x="2552700" y="5291328"/>
            <a:ext cx="1066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分析每次</a:t>
            </a:r>
            <a:endParaRPr sz="1800" b="0">
              <a:solidFill>
                <a:srgbClr val="263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-9"/>
          <p:cNvSpPr>
            <a:spLocks noGrp="1"/>
          </p:cNvSpPr>
          <p:nvPr/>
        </p:nvSpPr>
        <p:spPr>
          <a:xfrm>
            <a:off x="2552700" y="5605653"/>
            <a:ext cx="6096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</a:t>
            </a:r>
            <a:endParaRPr sz="1800" b="0">
              <a:solidFill>
                <a:srgbClr val="263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-10"/>
          <p:cNvSpPr>
            <a:spLocks noGrp="1"/>
          </p:cNvSpPr>
          <p:nvPr/>
        </p:nvSpPr>
        <p:spPr>
          <a:xfrm>
            <a:off x="4048125" y="5443728"/>
            <a:ext cx="3810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6D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6D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6D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800" b="0">
              <a:solidFill>
                <a:srgbClr val="6D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-11"/>
          <p:cNvSpPr>
            <a:spLocks noGrp="1"/>
          </p:cNvSpPr>
          <p:nvPr/>
        </p:nvSpPr>
        <p:spPr>
          <a:xfrm>
            <a:off x="4505325" y="5291328"/>
            <a:ext cx="12954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发现高风险</a:t>
            </a:r>
            <a:endParaRPr sz="1800" b="0">
              <a:solidFill>
                <a:srgbClr val="263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-12"/>
          <p:cNvSpPr>
            <a:spLocks noGrp="1"/>
          </p:cNvSpPr>
          <p:nvPr/>
        </p:nvSpPr>
        <p:spPr>
          <a:xfrm>
            <a:off x="4505325" y="5605653"/>
            <a:ext cx="6096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变更</a:t>
            </a:r>
            <a:endParaRPr sz="1800" b="0">
              <a:solidFill>
                <a:srgbClr val="263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-13"/>
          <p:cNvSpPr>
            <a:spLocks noGrp="1"/>
          </p:cNvSpPr>
          <p:nvPr/>
        </p:nvSpPr>
        <p:spPr>
          <a:xfrm>
            <a:off x="6000750" y="5443728"/>
            <a:ext cx="3810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6D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6D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6D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800" b="0">
              <a:solidFill>
                <a:srgbClr val="6D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-14"/>
          <p:cNvSpPr>
            <a:spLocks noGrp="1"/>
          </p:cNvSpPr>
          <p:nvPr/>
        </p:nvSpPr>
        <p:spPr>
          <a:xfrm>
            <a:off x="6457950" y="5291328"/>
            <a:ext cx="1066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解释风险</a:t>
            </a:r>
            <a:endParaRPr sz="1800" b="0">
              <a:solidFill>
                <a:srgbClr val="263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-15"/>
          <p:cNvSpPr>
            <a:spLocks noGrp="1"/>
          </p:cNvSpPr>
          <p:nvPr/>
        </p:nvSpPr>
        <p:spPr>
          <a:xfrm>
            <a:off x="6457950" y="5605653"/>
            <a:ext cx="6096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</a:t>
            </a:r>
            <a:endParaRPr sz="1800" b="0">
              <a:solidFill>
                <a:srgbClr val="263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-16"/>
          <p:cNvSpPr>
            <a:spLocks noGrp="1"/>
          </p:cNvSpPr>
          <p:nvPr/>
        </p:nvSpPr>
        <p:spPr>
          <a:xfrm>
            <a:off x="7943850" y="5443728"/>
            <a:ext cx="3810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6D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6D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6D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800" b="0">
              <a:solidFill>
                <a:srgbClr val="6D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-17"/>
          <p:cNvSpPr>
            <a:spLocks noGrp="1"/>
          </p:cNvSpPr>
          <p:nvPr/>
        </p:nvSpPr>
        <p:spPr>
          <a:xfrm>
            <a:off x="8401050" y="5291328"/>
            <a:ext cx="1066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安排代码</a:t>
            </a:r>
            <a:endParaRPr sz="1800" b="0">
              <a:solidFill>
                <a:srgbClr val="263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-18"/>
          <p:cNvSpPr>
            <a:spLocks noGrp="1"/>
          </p:cNvSpPr>
          <p:nvPr/>
        </p:nvSpPr>
        <p:spPr>
          <a:xfrm>
            <a:off x="8401050" y="5605653"/>
            <a:ext cx="6096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审查</a:t>
            </a:r>
            <a:endParaRPr sz="1800" b="0">
              <a:solidFill>
                <a:srgbClr val="263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-19"/>
          <p:cNvSpPr>
            <a:spLocks noGrp="1"/>
          </p:cNvSpPr>
          <p:nvPr/>
        </p:nvSpPr>
        <p:spPr>
          <a:xfrm>
            <a:off x="9886950" y="5443728"/>
            <a:ext cx="3810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6D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6D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6D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800" b="0">
              <a:solidFill>
                <a:srgbClr val="6D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-20"/>
          <p:cNvSpPr>
            <a:spLocks noGrp="1"/>
          </p:cNvSpPr>
          <p:nvPr/>
        </p:nvSpPr>
        <p:spPr>
          <a:xfrm>
            <a:off x="10344150" y="5291328"/>
            <a:ext cx="1066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记录处理</a:t>
            </a:r>
            <a:endParaRPr sz="1800" b="0">
              <a:solidFill>
                <a:srgbClr val="263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-21"/>
          <p:cNvSpPr>
            <a:spLocks noGrp="1"/>
          </p:cNvSpPr>
          <p:nvPr/>
        </p:nvSpPr>
        <p:spPr>
          <a:xfrm>
            <a:off x="10344150" y="5605653"/>
            <a:ext cx="6096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</a:t>
            </a:r>
            <a:endParaRPr sz="1800" b="0">
              <a:solidFill>
                <a:srgbClr val="263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-22"/>
          <p:cNvSpPr>
            <a:spLocks noGrp="1"/>
          </p:cNvSpPr>
          <p:nvPr/>
        </p:nvSpPr>
        <p:spPr>
          <a:xfrm>
            <a:off x="609600" y="6320790"/>
            <a:ext cx="4343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未来可进一步推广至开源社区和中小型研发团队。</a:t>
            </a:r>
            <a:endParaRPr sz="1500" b="0">
              <a:solidFill>
                <a:srgbClr val="6172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-23"/>
          <p:cNvSpPr>
            <a:spLocks noGrp="1"/>
          </p:cNvSpPr>
          <p:nvPr/>
        </p:nvSpPr>
        <p:spPr>
          <a:xfrm>
            <a:off x="11315700" y="6320790"/>
            <a:ext cx="39243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500" b="0">
              <a:solidFill>
                <a:srgbClr val="6172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5" name="表格 24"/>
          <p:cNvGraphicFramePr/>
          <p:nvPr/>
        </p:nvGraphicFramePr>
        <p:xfrm>
          <a:off x="609600" y="2609850"/>
          <a:ext cx="10972800" cy="1943100"/>
        </p:xfrm>
        <a:graphic>
          <a:graphicData uri="http://schemas.openxmlformats.org/drawingml/2006/table">
            <a:tbl>
              <a:tblPr/>
              <a:tblGrid>
                <a:gridCol w="2609850"/>
                <a:gridCol w="8362950"/>
              </a:tblGrid>
              <a:tr h="457200"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32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核心用户</a:t>
                      </a:r>
                      <a:endParaRPr sz="1800" b="1">
                        <a:solidFill>
                          <a:srgbClr val="1832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3F6FA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32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使用目的</a:t>
                      </a:r>
                      <a:endParaRPr sz="1800" b="1">
                        <a:solidFill>
                          <a:srgbClr val="1832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3F6FA"/>
                    </a:solidFill>
                  </a:tcPr>
                </a:tc>
              </a:tr>
              <a:tr h="495300"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学生开发者</a:t>
                      </a:r>
                      <a:endParaRPr sz="1800" b="1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查看自己提交的风险并改进代码</a:t>
                      </a:r>
                      <a:endParaRPr sz="1800" b="0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项目负责人</a:t>
                      </a:r>
                      <a:endParaRPr sz="1800" b="1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安排代码审查，了解团队整体风险</a:t>
                      </a:r>
                      <a:endParaRPr sz="1800" b="0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教师或助教</a:t>
                      </a:r>
                      <a:endParaRPr sz="1800" b="1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查看各小组的项目质量趋势，及时提供指导</a:t>
                      </a:r>
                      <a:endParaRPr sz="1800" b="0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slide-title"/>
          <p:cNvSpPr>
            <a:spLocks noGrp="1"/>
          </p:cNvSpPr>
          <p:nvPr/>
        </p:nvSpPr>
        <p:spPr>
          <a:xfrm>
            <a:off x="609600" y="487680"/>
            <a:ext cx="3962400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0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已完成工作与成果展示</a:t>
            </a:r>
            <a:endParaRPr sz="3000" b="1">
              <a:solidFill>
                <a:srgbClr val="1832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6383655" y="1844421"/>
            <a:ext cx="14859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成果展示</a:t>
            </a:r>
            <a:endParaRPr sz="2100" b="1">
              <a:solidFill>
                <a:srgbClr val="1832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6838950" y="3195828"/>
            <a:ext cx="31242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放置已有需求文档、产品流程</a:t>
            </a:r>
            <a:endParaRPr sz="1800" b="0">
              <a:solidFill>
                <a:srgbClr val="6172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6838950" y="3595878"/>
            <a:ext cx="17526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或设计文档截图</a:t>
            </a:r>
            <a:endParaRPr sz="1800" b="0">
              <a:solidFill>
                <a:srgbClr val="6172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11315700" y="6320790"/>
            <a:ext cx="39243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500" b="0">
              <a:solidFill>
                <a:srgbClr val="6172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609600" y="1657350"/>
          <a:ext cx="5372100" cy="4191000"/>
        </p:xfrm>
        <a:graphic>
          <a:graphicData uri="http://schemas.openxmlformats.org/drawingml/2006/table">
            <a:tbl>
              <a:tblPr/>
              <a:tblGrid>
                <a:gridCol w="1562100"/>
                <a:gridCol w="3810000"/>
              </a:tblGrid>
              <a:tr h="533400"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32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已完成工作</a:t>
                      </a:r>
                      <a:endParaRPr sz="1800" b="1">
                        <a:solidFill>
                          <a:srgbClr val="1832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3F6FA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32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主要内容</a:t>
                      </a:r>
                      <a:endParaRPr sz="1800" b="1">
                        <a:solidFill>
                          <a:srgbClr val="1832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3F6FA"/>
                    </a:solidFill>
                  </a:tcPr>
                </a:tc>
              </a:tr>
              <a:tr h="914400"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产品需求</a:t>
                      </a:r>
                      <a:endParaRPr sz="1800" b="1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明确目标用户、使用场景</a:t>
                      </a:r>
                      <a:endParaRPr sz="1800" b="0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与功能需求</a:t>
                      </a:r>
                      <a:endParaRPr sz="1800" b="0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产品主线</a:t>
                      </a:r>
                      <a:endParaRPr sz="1800" b="1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明确提交分析、风险解释、</a:t>
                      </a:r>
                      <a:endParaRPr sz="1800" b="0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审查与处理记录的使用流程</a:t>
                      </a:r>
                      <a:endParaRPr sz="1800" b="0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小组分工</a:t>
                      </a:r>
                      <a:endParaRPr sz="1800" b="1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明确四个角色的主责模块</a:t>
                      </a:r>
                      <a:endParaRPr sz="1800" b="0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与工作内容</a:t>
                      </a:r>
                      <a:endParaRPr sz="1800" b="0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技术架构</a:t>
                      </a:r>
                      <a:endParaRPr sz="1800" b="1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明确系统模块、数据流及</a:t>
                      </a:r>
                      <a:endParaRPr sz="1800" b="0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训练与预测的关系</a:t>
                      </a:r>
                      <a:endParaRPr sz="1800" b="0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0" name="图片 9" descr="Screenshot 2026-10-09 132331"/>
          <p:cNvPicPr>
            <a:picLocks noChangeAspect="1"/>
          </p:cNvPicPr>
          <p:nvPr/>
        </p:nvPicPr>
        <p:blipFill>
          <a:blip r:embed="rId1"/>
          <a:srcRect r="15959"/>
          <a:stretch>
            <a:fillRect/>
          </a:stretch>
        </p:blipFill>
        <p:spPr>
          <a:xfrm>
            <a:off x="6325870" y="2420620"/>
            <a:ext cx="5256530" cy="2590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2" name="slide-title"/>
          <p:cNvSpPr>
            <a:spLocks noGrp="1"/>
          </p:cNvSpPr>
          <p:nvPr/>
        </p:nvSpPr>
        <p:spPr>
          <a:xfrm>
            <a:off x="609600" y="487680"/>
            <a:ext cx="4343400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0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技术架构：用户使用系统</a:t>
            </a:r>
            <a:endParaRPr sz="3000" b="1">
              <a:solidFill>
                <a:srgbClr val="1832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2356866"/>
            <a:ext cx="685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</a:t>
            </a:r>
            <a:endParaRPr sz="2100" b="1">
              <a:solidFill>
                <a:srgbClr val="1832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module-or-placeholder"/>
          <p:cNvSpPr>
            <a:spLocks noGrp="1"/>
          </p:cNvSpPr>
          <p:nvPr/>
        </p:nvSpPr>
        <p:spPr>
          <a:xfrm>
            <a:off x="2095500" y="1943100"/>
            <a:ext cx="2381250" cy="1466850"/>
          </a:xfrm>
          <a:prstGeom prst="rect">
            <a:avLst/>
          </a:prstGeom>
          <a:solidFill>
            <a:srgbClr val="F3F6FA"/>
          </a:solidFill>
          <a:ln w="9525">
            <a:solidFill>
              <a:srgbClr val="D4DEE8"/>
            </a:solidFill>
            <a:prstDash val="solid"/>
          </a:ln>
        </p:spPr>
      </p:sp>
      <p:sp>
        <p:nvSpPr>
          <p:cNvPr id="4" name="text-3"/>
          <p:cNvSpPr>
            <a:spLocks noGrp="1"/>
          </p:cNvSpPr>
          <p:nvPr/>
        </p:nvSpPr>
        <p:spPr>
          <a:xfrm>
            <a:off x="2305050" y="2071116"/>
            <a:ext cx="12192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前端页面</a:t>
            </a:r>
            <a:endParaRPr sz="2100" b="1">
              <a:solidFill>
                <a:srgbClr val="1832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2305050" y="2557653"/>
            <a:ext cx="2209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风险列表、提交详情</a:t>
            </a:r>
            <a:endParaRPr sz="1800" b="0">
              <a:solidFill>
                <a:srgbClr val="263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2305050" y="2891028"/>
            <a:ext cx="2209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审查记录、趋势看板</a:t>
            </a:r>
            <a:endParaRPr sz="1800" b="0">
              <a:solidFill>
                <a:srgbClr val="263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module-or-placeholder"/>
          <p:cNvSpPr>
            <a:spLocks noGrp="1"/>
          </p:cNvSpPr>
          <p:nvPr/>
        </p:nvSpPr>
        <p:spPr>
          <a:xfrm>
            <a:off x="5715000" y="1943100"/>
            <a:ext cx="2571750" cy="1466850"/>
          </a:xfrm>
          <a:prstGeom prst="rect">
            <a:avLst/>
          </a:prstGeom>
          <a:solidFill>
            <a:srgbClr val="F3F6FA"/>
          </a:solidFill>
          <a:ln w="9525">
            <a:solidFill>
              <a:srgbClr val="D4DEE8"/>
            </a:solidFill>
            <a:prstDash val="solid"/>
          </a:ln>
        </p:spPr>
      </p:sp>
      <p:sp>
        <p:nvSpPr>
          <p:cNvPr id="8" name="text-7"/>
          <p:cNvSpPr>
            <a:spLocks noGrp="1"/>
          </p:cNvSpPr>
          <p:nvPr/>
        </p:nvSpPr>
        <p:spPr>
          <a:xfrm>
            <a:off x="5924550" y="2071116"/>
            <a:ext cx="12192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后端服务</a:t>
            </a:r>
            <a:endParaRPr sz="2100" b="1">
              <a:solidFill>
                <a:srgbClr val="1832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8"/>
          <p:cNvSpPr>
            <a:spLocks noGrp="1"/>
          </p:cNvSpPr>
          <p:nvPr/>
        </p:nvSpPr>
        <p:spPr>
          <a:xfrm>
            <a:off x="5924550" y="2557653"/>
            <a:ext cx="2209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仓库接入、请求管理</a:t>
            </a:r>
            <a:endParaRPr sz="1800" b="0">
              <a:solidFill>
                <a:srgbClr val="263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-9"/>
          <p:cNvSpPr>
            <a:spLocks noGrp="1"/>
          </p:cNvSpPr>
          <p:nvPr/>
        </p:nvSpPr>
        <p:spPr>
          <a:xfrm>
            <a:off x="5924550" y="2891028"/>
            <a:ext cx="2209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预测调用、结果管理</a:t>
            </a:r>
            <a:endParaRPr sz="1800" b="0">
              <a:solidFill>
                <a:srgbClr val="263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module-or-placeholder"/>
          <p:cNvSpPr>
            <a:spLocks noGrp="1"/>
          </p:cNvSpPr>
          <p:nvPr/>
        </p:nvSpPr>
        <p:spPr>
          <a:xfrm>
            <a:off x="9486900" y="1943100"/>
            <a:ext cx="2095500" cy="1466850"/>
          </a:xfrm>
          <a:prstGeom prst="rect">
            <a:avLst/>
          </a:prstGeom>
          <a:solidFill>
            <a:srgbClr val="F3F6FA"/>
          </a:solidFill>
          <a:ln w="9525">
            <a:solidFill>
              <a:srgbClr val="D4DEE8"/>
            </a:solidFill>
            <a:prstDash val="solid"/>
          </a:ln>
        </p:spPr>
      </p:sp>
      <p:sp>
        <p:nvSpPr>
          <p:cNvPr id="12" name="text-11"/>
          <p:cNvSpPr>
            <a:spLocks noGrp="1"/>
          </p:cNvSpPr>
          <p:nvPr/>
        </p:nvSpPr>
        <p:spPr>
          <a:xfrm>
            <a:off x="9696450" y="2071116"/>
            <a:ext cx="12192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数据处理</a:t>
            </a:r>
            <a:endParaRPr sz="2100" b="1">
              <a:solidFill>
                <a:srgbClr val="1832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-12"/>
          <p:cNvSpPr>
            <a:spLocks noGrp="1"/>
          </p:cNvSpPr>
          <p:nvPr/>
        </p:nvSpPr>
        <p:spPr>
          <a:xfrm>
            <a:off x="9696450" y="2557653"/>
            <a:ext cx="1066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提交解析</a:t>
            </a:r>
            <a:endParaRPr sz="1800" b="0">
              <a:solidFill>
                <a:srgbClr val="263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-13"/>
          <p:cNvSpPr>
            <a:spLocks noGrp="1"/>
          </p:cNvSpPr>
          <p:nvPr/>
        </p:nvSpPr>
        <p:spPr>
          <a:xfrm>
            <a:off x="9696450" y="2891028"/>
            <a:ext cx="1066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特征提取</a:t>
            </a:r>
            <a:endParaRPr sz="1800" b="0">
              <a:solidFill>
                <a:srgbClr val="263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module-or-placeholder"/>
          <p:cNvSpPr>
            <a:spLocks noGrp="1"/>
          </p:cNvSpPr>
          <p:nvPr/>
        </p:nvSpPr>
        <p:spPr>
          <a:xfrm>
            <a:off x="5715000" y="4400550"/>
            <a:ext cx="2571750" cy="1466850"/>
          </a:xfrm>
          <a:prstGeom prst="rect">
            <a:avLst/>
          </a:prstGeom>
          <a:solidFill>
            <a:srgbClr val="F3F6FA"/>
          </a:solidFill>
          <a:ln w="9525">
            <a:solidFill>
              <a:srgbClr val="D4DEE8"/>
            </a:solidFill>
            <a:prstDash val="solid"/>
          </a:ln>
        </p:spPr>
      </p:sp>
      <p:sp>
        <p:nvSpPr>
          <p:cNvPr id="16" name="text-15"/>
          <p:cNvSpPr>
            <a:spLocks noGrp="1"/>
          </p:cNvSpPr>
          <p:nvPr/>
        </p:nvSpPr>
        <p:spPr>
          <a:xfrm>
            <a:off x="5924550" y="4528566"/>
            <a:ext cx="12192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数据存储</a:t>
            </a:r>
            <a:endParaRPr sz="2100" b="1">
              <a:solidFill>
                <a:srgbClr val="1832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-16"/>
          <p:cNvSpPr>
            <a:spLocks noGrp="1"/>
          </p:cNvSpPr>
          <p:nvPr/>
        </p:nvSpPr>
        <p:spPr>
          <a:xfrm>
            <a:off x="5924550" y="5015103"/>
            <a:ext cx="19812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项目与提交、特征</a:t>
            </a:r>
            <a:endParaRPr sz="1800" b="0">
              <a:solidFill>
                <a:srgbClr val="263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-17"/>
          <p:cNvSpPr>
            <a:spLocks noGrp="1"/>
          </p:cNvSpPr>
          <p:nvPr/>
        </p:nvSpPr>
        <p:spPr>
          <a:xfrm>
            <a:off x="5924550" y="5348478"/>
            <a:ext cx="2209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预测结果、处理记录</a:t>
            </a:r>
            <a:endParaRPr sz="1800" b="0">
              <a:solidFill>
                <a:srgbClr val="263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module-or-placeholder"/>
          <p:cNvSpPr>
            <a:spLocks noGrp="1"/>
          </p:cNvSpPr>
          <p:nvPr/>
        </p:nvSpPr>
        <p:spPr>
          <a:xfrm>
            <a:off x="9486900" y="4400550"/>
            <a:ext cx="2095500" cy="1466850"/>
          </a:xfrm>
          <a:prstGeom prst="rect">
            <a:avLst/>
          </a:prstGeom>
          <a:solidFill>
            <a:srgbClr val="F3F6FA"/>
          </a:solidFill>
          <a:ln w="9525">
            <a:solidFill>
              <a:srgbClr val="D4DEE8"/>
            </a:solidFill>
            <a:prstDash val="solid"/>
          </a:ln>
        </p:spPr>
      </p:sp>
      <p:sp>
        <p:nvSpPr>
          <p:cNvPr id="20" name="text-19"/>
          <p:cNvSpPr>
            <a:spLocks noGrp="1"/>
          </p:cNvSpPr>
          <p:nvPr/>
        </p:nvSpPr>
        <p:spPr>
          <a:xfrm>
            <a:off x="9696450" y="4528566"/>
            <a:ext cx="12192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预测模型</a:t>
            </a:r>
            <a:endParaRPr sz="2100" b="1">
              <a:solidFill>
                <a:srgbClr val="1832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-20"/>
          <p:cNvSpPr>
            <a:spLocks noGrp="1"/>
          </p:cNvSpPr>
          <p:nvPr/>
        </p:nvSpPr>
        <p:spPr>
          <a:xfrm>
            <a:off x="9696450" y="5015103"/>
            <a:ext cx="1066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风险评分</a:t>
            </a:r>
            <a:endParaRPr sz="1800" b="0">
              <a:solidFill>
                <a:srgbClr val="263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-21"/>
          <p:cNvSpPr>
            <a:spLocks noGrp="1"/>
          </p:cNvSpPr>
          <p:nvPr/>
        </p:nvSpPr>
        <p:spPr>
          <a:xfrm>
            <a:off x="9696450" y="5348478"/>
            <a:ext cx="15240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特征贡献解释</a:t>
            </a:r>
            <a:endParaRPr sz="1800" b="0">
              <a:solidFill>
                <a:srgbClr val="263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3" name="直接箭头连接符 22"/>
          <p:cNvCxnSpPr/>
          <p:nvPr/>
        </p:nvCxnSpPr>
        <p:spPr>
          <a:xfrm>
            <a:off x="1219200" y="2667000"/>
            <a:ext cx="800100" cy="0"/>
          </a:xfrm>
          <a:prstGeom prst="straightConnector1">
            <a:avLst/>
          </a:prstGeom>
          <a:ln w="19050">
            <a:solidFill>
              <a:srgbClr val="6D8299"/>
            </a:solidFill>
            <a:headEnd type="none" w="sm" len="sm"/>
            <a:tailEnd type="triangle" w="sm" len="sm"/>
          </a:ln>
        </p:spPr>
      </p:cxnSp>
      <p:sp>
        <p:nvSpPr>
          <p:cNvPr id="24" name="text-23"/>
          <p:cNvSpPr>
            <a:spLocks noGrp="1"/>
          </p:cNvSpPr>
          <p:nvPr/>
        </p:nvSpPr>
        <p:spPr>
          <a:xfrm>
            <a:off x="4629150" y="2120265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发送请求</a:t>
            </a:r>
            <a:endParaRPr sz="1500" b="0">
              <a:solidFill>
                <a:srgbClr val="6172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直接箭头连接符 24"/>
          <p:cNvCxnSpPr/>
          <p:nvPr/>
        </p:nvCxnSpPr>
        <p:spPr>
          <a:xfrm>
            <a:off x="4552950" y="2428875"/>
            <a:ext cx="1085850" cy="0"/>
          </a:xfrm>
          <a:prstGeom prst="straightConnector1">
            <a:avLst/>
          </a:prstGeom>
          <a:ln w="19050">
            <a:solidFill>
              <a:srgbClr val="6D8299"/>
            </a:solidFill>
            <a:headEnd type="none" w="sm" len="sm"/>
            <a:tailEnd type="triangle" w="sm" len="sm"/>
          </a:ln>
        </p:spPr>
      </p:cxnSp>
      <p:cxnSp>
        <p:nvCxnSpPr>
          <p:cNvPr id="26" name="直接箭头连接符 25"/>
          <p:cNvCxnSpPr/>
          <p:nvPr/>
        </p:nvCxnSpPr>
        <p:spPr>
          <a:xfrm flipH="1">
            <a:off x="4552950" y="2867025"/>
            <a:ext cx="1085850" cy="0"/>
          </a:xfrm>
          <a:prstGeom prst="straightConnector1">
            <a:avLst/>
          </a:prstGeom>
          <a:ln w="19050">
            <a:solidFill>
              <a:srgbClr val="6D8299"/>
            </a:solidFill>
            <a:headEnd type="none" w="sm" len="sm"/>
            <a:tailEnd type="triangle" w="sm" len="sm"/>
          </a:ln>
        </p:spPr>
      </p:cxnSp>
      <p:sp>
        <p:nvSpPr>
          <p:cNvPr id="27" name="text-26"/>
          <p:cNvSpPr>
            <a:spLocks noGrp="1"/>
          </p:cNvSpPr>
          <p:nvPr/>
        </p:nvSpPr>
        <p:spPr>
          <a:xfrm>
            <a:off x="4629150" y="3015615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返回结果</a:t>
            </a:r>
            <a:endParaRPr sz="1500" b="0">
              <a:solidFill>
                <a:srgbClr val="6172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-27"/>
          <p:cNvSpPr>
            <a:spLocks noGrp="1"/>
          </p:cNvSpPr>
          <p:nvPr/>
        </p:nvSpPr>
        <p:spPr>
          <a:xfrm>
            <a:off x="8458200" y="2120265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调用处理</a:t>
            </a:r>
            <a:endParaRPr sz="1500" b="0">
              <a:solidFill>
                <a:srgbClr val="6172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" name="直接箭头连接符 28"/>
          <p:cNvCxnSpPr/>
          <p:nvPr/>
        </p:nvCxnSpPr>
        <p:spPr>
          <a:xfrm>
            <a:off x="8362950" y="2428875"/>
            <a:ext cx="1047750" cy="0"/>
          </a:xfrm>
          <a:prstGeom prst="straightConnector1">
            <a:avLst/>
          </a:prstGeom>
          <a:ln w="19050">
            <a:solidFill>
              <a:srgbClr val="6D8299"/>
            </a:solidFill>
            <a:headEnd type="none" w="sm" len="sm"/>
            <a:tailEnd type="triangle" w="sm" len="sm"/>
          </a:ln>
        </p:spPr>
      </p:cxnSp>
      <p:cxnSp>
        <p:nvCxnSpPr>
          <p:cNvPr id="30" name="直接箭头连接符 29"/>
          <p:cNvCxnSpPr/>
          <p:nvPr/>
        </p:nvCxnSpPr>
        <p:spPr>
          <a:xfrm>
            <a:off x="7000875" y="3486150"/>
            <a:ext cx="0" cy="838200"/>
          </a:xfrm>
          <a:prstGeom prst="straightConnector1">
            <a:avLst/>
          </a:prstGeom>
          <a:ln w="19050">
            <a:solidFill>
              <a:srgbClr val="6D8299"/>
            </a:solidFill>
            <a:headEnd type="triangle" w="sm" len="sm"/>
            <a:tailEnd type="triangle" w="sm" len="sm"/>
          </a:ln>
        </p:spPr>
      </p:cxnSp>
      <p:sp>
        <p:nvSpPr>
          <p:cNvPr id="31" name="text-30"/>
          <p:cNvSpPr>
            <a:spLocks noGrp="1"/>
          </p:cNvSpPr>
          <p:nvPr/>
        </p:nvSpPr>
        <p:spPr>
          <a:xfrm>
            <a:off x="5715000" y="3625215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读取数据</a:t>
            </a:r>
            <a:endParaRPr sz="1500" b="0">
              <a:solidFill>
                <a:srgbClr val="6172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-31"/>
          <p:cNvSpPr>
            <a:spLocks noGrp="1"/>
          </p:cNvSpPr>
          <p:nvPr/>
        </p:nvSpPr>
        <p:spPr>
          <a:xfrm>
            <a:off x="5715000" y="3920490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保存结果</a:t>
            </a:r>
            <a:endParaRPr sz="1500" b="0">
              <a:solidFill>
                <a:srgbClr val="6172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3" name="直接箭头连接符 32"/>
          <p:cNvCxnSpPr/>
          <p:nvPr/>
        </p:nvCxnSpPr>
        <p:spPr>
          <a:xfrm>
            <a:off x="10534650" y="3486150"/>
            <a:ext cx="0" cy="838200"/>
          </a:xfrm>
          <a:prstGeom prst="straightConnector1">
            <a:avLst/>
          </a:prstGeom>
          <a:ln w="19050">
            <a:solidFill>
              <a:srgbClr val="6D8299"/>
            </a:solidFill>
            <a:headEnd type="none" w="sm" len="sm"/>
            <a:tailEnd type="triangle" w="sm" len="sm"/>
          </a:ln>
        </p:spPr>
      </p:cxnSp>
      <p:sp>
        <p:nvSpPr>
          <p:cNvPr id="34" name="text-33"/>
          <p:cNvSpPr>
            <a:spLocks noGrp="1"/>
          </p:cNvSpPr>
          <p:nvPr/>
        </p:nvSpPr>
        <p:spPr>
          <a:xfrm>
            <a:off x="10706100" y="3739515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</a:t>
            </a:r>
            <a:endParaRPr sz="1500" b="0">
              <a:solidFill>
                <a:srgbClr val="6172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直接箭头连接符 34"/>
          <p:cNvCxnSpPr/>
          <p:nvPr/>
        </p:nvCxnSpPr>
        <p:spPr>
          <a:xfrm flipH="1">
            <a:off x="8896350" y="5133975"/>
            <a:ext cx="514350" cy="0"/>
          </a:xfrm>
          <a:prstGeom prst="straightConnector1">
            <a:avLst/>
          </a:prstGeom>
          <a:ln w="19050">
            <a:solidFill>
              <a:srgbClr val="6D8299"/>
            </a:solidFill>
            <a:headEnd type="none" w="sm" len="sm"/>
            <a:tailEnd type="none" w="sm" len="sm"/>
          </a:ln>
        </p:spPr>
      </p:cxnSp>
      <p:cxnSp>
        <p:nvCxnSpPr>
          <p:cNvPr id="36" name="直接箭头连接符 35"/>
          <p:cNvCxnSpPr/>
          <p:nvPr/>
        </p:nvCxnSpPr>
        <p:spPr>
          <a:xfrm flipV="1">
            <a:off x="8896350" y="3019425"/>
            <a:ext cx="0" cy="2114550"/>
          </a:xfrm>
          <a:prstGeom prst="straightConnector1">
            <a:avLst/>
          </a:prstGeom>
          <a:ln w="19050">
            <a:solidFill>
              <a:srgbClr val="6D8299"/>
            </a:solidFill>
            <a:headEnd type="none" w="sm" len="sm"/>
            <a:tailEnd type="none" w="sm" len="sm"/>
          </a:ln>
        </p:spPr>
      </p:cxnSp>
      <p:cxnSp>
        <p:nvCxnSpPr>
          <p:cNvPr id="37" name="直接箭头连接符 36"/>
          <p:cNvCxnSpPr/>
          <p:nvPr/>
        </p:nvCxnSpPr>
        <p:spPr>
          <a:xfrm flipH="1">
            <a:off x="8362950" y="3019425"/>
            <a:ext cx="533400" cy="0"/>
          </a:xfrm>
          <a:prstGeom prst="straightConnector1">
            <a:avLst/>
          </a:prstGeom>
          <a:ln w="19050">
            <a:solidFill>
              <a:srgbClr val="6D8299"/>
            </a:solidFill>
            <a:headEnd type="none" w="sm" len="sm"/>
            <a:tailEnd type="triangle" w="sm" len="sm"/>
          </a:ln>
        </p:spPr>
      </p:cxnSp>
      <p:sp>
        <p:nvSpPr>
          <p:cNvPr id="38" name="text-37"/>
          <p:cNvSpPr>
            <a:spLocks noGrp="1"/>
          </p:cNvSpPr>
          <p:nvPr/>
        </p:nvSpPr>
        <p:spPr>
          <a:xfrm>
            <a:off x="7943850" y="3615690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风险分数</a:t>
            </a:r>
            <a:endParaRPr sz="1500" b="0">
              <a:solidFill>
                <a:srgbClr val="6172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-38"/>
          <p:cNvSpPr>
            <a:spLocks noGrp="1"/>
          </p:cNvSpPr>
          <p:nvPr/>
        </p:nvSpPr>
        <p:spPr>
          <a:xfrm>
            <a:off x="7943850" y="3910965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及解释</a:t>
            </a:r>
            <a:endParaRPr sz="1500" b="0">
              <a:solidFill>
                <a:srgbClr val="6172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-39"/>
          <p:cNvSpPr>
            <a:spLocks noGrp="1"/>
          </p:cNvSpPr>
          <p:nvPr/>
        </p:nvSpPr>
        <p:spPr>
          <a:xfrm>
            <a:off x="609600" y="6130290"/>
            <a:ext cx="7391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</a:t>
            </a:r>
            <a:r>
              <a: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选择一次提交，后端读取数据并提取特征，调用模型预测，保存结果并返回前端展示。</a:t>
            </a:r>
            <a:endParaRPr sz="1500" b="0">
              <a:solidFill>
                <a:srgbClr val="6172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-40"/>
          <p:cNvSpPr>
            <a:spLocks noGrp="1"/>
          </p:cNvSpPr>
          <p:nvPr/>
        </p:nvSpPr>
        <p:spPr>
          <a:xfrm>
            <a:off x="11315700" y="6320790"/>
            <a:ext cx="39243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500" b="0">
              <a:solidFill>
                <a:srgbClr val="6172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" name="slide-title"/>
          <p:cNvSpPr>
            <a:spLocks noGrp="1"/>
          </p:cNvSpPr>
          <p:nvPr/>
        </p:nvSpPr>
        <p:spPr>
          <a:xfrm>
            <a:off x="609600" y="487680"/>
            <a:ext cx="5486400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0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技术架构：模型训练与在线预测</a:t>
            </a:r>
            <a:endParaRPr sz="3000" b="1">
              <a:solidFill>
                <a:srgbClr val="1832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1385316"/>
            <a:ext cx="12192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 b="1">
                <a:solidFill>
                  <a:srgbClr val="2166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00" b="1">
                <a:solidFill>
                  <a:srgbClr val="2166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166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离线训练</a:t>
            </a:r>
            <a:endParaRPr sz="2100" b="1">
              <a:solidFill>
                <a:srgbClr val="2166A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609600" y="1957578"/>
            <a:ext cx="15240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真实开源项目</a:t>
            </a:r>
            <a:endParaRPr sz="1800" b="0">
              <a:solidFill>
                <a:srgbClr val="263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609600" y="2300478"/>
            <a:ext cx="1066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历史数据</a:t>
            </a:r>
            <a:endParaRPr sz="1800" b="0">
              <a:solidFill>
                <a:srgbClr val="263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2857500" y="2080641"/>
            <a:ext cx="4191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 b="0">
                <a:solidFill>
                  <a:srgbClr val="6D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00" b="0">
                <a:solidFill>
                  <a:srgbClr val="6D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6D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100" b="0">
              <a:solidFill>
                <a:srgbClr val="6D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3562350" y="1957578"/>
            <a:ext cx="1041654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SZZ标注</a:t>
            </a:r>
            <a:endParaRPr sz="1800" b="0">
              <a:solidFill>
                <a:srgbClr val="263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3562350" y="2300478"/>
            <a:ext cx="12954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与特征构建</a:t>
            </a:r>
            <a:endParaRPr sz="1800" b="0">
              <a:solidFill>
                <a:srgbClr val="263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7"/>
          <p:cNvSpPr>
            <a:spLocks noGrp="1"/>
          </p:cNvSpPr>
          <p:nvPr/>
        </p:nvSpPr>
        <p:spPr>
          <a:xfrm>
            <a:off x="5810250" y="2080641"/>
            <a:ext cx="4191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 b="0">
                <a:solidFill>
                  <a:srgbClr val="6D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00" b="0">
                <a:solidFill>
                  <a:srgbClr val="6D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6D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100" b="0">
              <a:solidFill>
                <a:srgbClr val="6D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8"/>
          <p:cNvSpPr>
            <a:spLocks noGrp="1"/>
          </p:cNvSpPr>
          <p:nvPr/>
        </p:nvSpPr>
        <p:spPr>
          <a:xfrm>
            <a:off x="6515100" y="1957578"/>
            <a:ext cx="12954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多模型训练</a:t>
            </a:r>
            <a:endParaRPr sz="1800" b="0">
              <a:solidFill>
                <a:srgbClr val="263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-9"/>
          <p:cNvSpPr>
            <a:spLocks noGrp="1"/>
          </p:cNvSpPr>
          <p:nvPr/>
        </p:nvSpPr>
        <p:spPr>
          <a:xfrm>
            <a:off x="6515100" y="2300478"/>
            <a:ext cx="8382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与评估</a:t>
            </a:r>
            <a:endParaRPr sz="1800" b="0">
              <a:solidFill>
                <a:srgbClr val="263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-10"/>
          <p:cNvSpPr>
            <a:spLocks noGrp="1"/>
          </p:cNvSpPr>
          <p:nvPr/>
        </p:nvSpPr>
        <p:spPr>
          <a:xfrm>
            <a:off x="8782050" y="2080641"/>
            <a:ext cx="4191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 b="0">
                <a:solidFill>
                  <a:srgbClr val="6D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00" b="0">
                <a:solidFill>
                  <a:srgbClr val="6D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6D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100" b="0">
              <a:solidFill>
                <a:srgbClr val="6D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-11"/>
          <p:cNvSpPr>
            <a:spLocks noGrp="1"/>
          </p:cNvSpPr>
          <p:nvPr/>
        </p:nvSpPr>
        <p:spPr>
          <a:xfrm>
            <a:off x="9467850" y="1957578"/>
            <a:ext cx="1066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2166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2166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166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模型选型</a:t>
            </a:r>
            <a:endParaRPr sz="1800" b="0">
              <a:solidFill>
                <a:srgbClr val="2166A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-12"/>
          <p:cNvSpPr>
            <a:spLocks noGrp="1"/>
          </p:cNvSpPr>
          <p:nvPr/>
        </p:nvSpPr>
        <p:spPr>
          <a:xfrm>
            <a:off x="9467850" y="2300478"/>
            <a:ext cx="8382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2166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2166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166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与保存</a:t>
            </a:r>
            <a:endParaRPr sz="1800" b="0">
              <a:solidFill>
                <a:srgbClr val="2166A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>
            <a:off x="10725150" y="2724150"/>
            <a:ext cx="0" cy="371475"/>
          </a:xfrm>
          <a:prstGeom prst="straightConnector1">
            <a:avLst/>
          </a:prstGeom>
          <a:ln w="19050">
            <a:solidFill>
              <a:srgbClr val="6D8299"/>
            </a:solidFill>
            <a:headEnd type="none" w="sm" len="sm"/>
            <a:tailEnd type="none" w="sm" len="sm"/>
          </a:ln>
        </p:spPr>
      </p:cxnSp>
      <p:cxnSp>
        <p:nvCxnSpPr>
          <p:cNvPr id="15" name="直接箭头连接符 14"/>
          <p:cNvCxnSpPr/>
          <p:nvPr/>
        </p:nvCxnSpPr>
        <p:spPr>
          <a:xfrm flipH="1">
            <a:off x="7905750" y="3095625"/>
            <a:ext cx="2819400" cy="0"/>
          </a:xfrm>
          <a:prstGeom prst="straightConnector1">
            <a:avLst/>
          </a:prstGeom>
          <a:ln w="19050">
            <a:solidFill>
              <a:srgbClr val="6D8299"/>
            </a:solidFill>
            <a:headEnd type="none" w="sm" len="sm"/>
            <a:tailEnd type="none" w="sm" len="sm"/>
          </a:ln>
        </p:spPr>
      </p:cxnSp>
      <p:cxnSp>
        <p:nvCxnSpPr>
          <p:cNvPr id="16" name="直接箭头连接符 15"/>
          <p:cNvCxnSpPr/>
          <p:nvPr/>
        </p:nvCxnSpPr>
        <p:spPr>
          <a:xfrm>
            <a:off x="7905750" y="3095625"/>
            <a:ext cx="0" cy="476250"/>
          </a:xfrm>
          <a:prstGeom prst="straightConnector1">
            <a:avLst/>
          </a:prstGeom>
          <a:ln w="19050">
            <a:solidFill>
              <a:srgbClr val="6D8299"/>
            </a:solidFill>
            <a:headEnd type="none" w="sm" len="sm"/>
            <a:tailEnd type="triangle" w="sm" len="sm"/>
          </a:ln>
        </p:spPr>
      </p:cxnSp>
      <p:sp>
        <p:nvSpPr>
          <p:cNvPr id="17" name="text-16"/>
          <p:cNvSpPr>
            <a:spLocks noGrp="1"/>
          </p:cNvSpPr>
          <p:nvPr/>
        </p:nvSpPr>
        <p:spPr>
          <a:xfrm>
            <a:off x="8134350" y="3244215"/>
            <a:ext cx="2057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保存的模型供在线调用</a:t>
            </a:r>
            <a:endParaRPr sz="1500" b="0">
              <a:solidFill>
                <a:srgbClr val="6172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-17"/>
          <p:cNvSpPr>
            <a:spLocks noGrp="1"/>
          </p:cNvSpPr>
          <p:nvPr/>
        </p:nvSpPr>
        <p:spPr>
          <a:xfrm>
            <a:off x="609600" y="3099816"/>
            <a:ext cx="12192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 b="1">
                <a:solidFill>
                  <a:srgbClr val="2166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00" b="1">
                <a:solidFill>
                  <a:srgbClr val="2166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166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在线预测</a:t>
            </a:r>
            <a:endParaRPr sz="2100" b="1">
              <a:solidFill>
                <a:srgbClr val="2166A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-18"/>
          <p:cNvSpPr>
            <a:spLocks noGrp="1"/>
          </p:cNvSpPr>
          <p:nvPr/>
        </p:nvSpPr>
        <p:spPr>
          <a:xfrm>
            <a:off x="609600" y="3672078"/>
            <a:ext cx="1066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课程项目</a:t>
            </a:r>
            <a:endParaRPr sz="1800" b="0">
              <a:solidFill>
                <a:srgbClr val="263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-19"/>
          <p:cNvSpPr>
            <a:spLocks noGrp="1"/>
          </p:cNvSpPr>
          <p:nvPr/>
        </p:nvSpPr>
        <p:spPr>
          <a:xfrm>
            <a:off x="609600" y="4014978"/>
            <a:ext cx="1066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的新提交</a:t>
            </a:r>
            <a:endParaRPr sz="1800" b="0">
              <a:solidFill>
                <a:srgbClr val="263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-20"/>
          <p:cNvSpPr>
            <a:spLocks noGrp="1"/>
          </p:cNvSpPr>
          <p:nvPr/>
        </p:nvSpPr>
        <p:spPr>
          <a:xfrm>
            <a:off x="2857500" y="3795141"/>
            <a:ext cx="4191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 b="0">
                <a:solidFill>
                  <a:srgbClr val="6D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00" b="0">
                <a:solidFill>
                  <a:srgbClr val="6D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6D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100" b="0">
              <a:solidFill>
                <a:srgbClr val="6D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-21"/>
          <p:cNvSpPr>
            <a:spLocks noGrp="1"/>
          </p:cNvSpPr>
          <p:nvPr/>
        </p:nvSpPr>
        <p:spPr>
          <a:xfrm>
            <a:off x="3562350" y="3672078"/>
            <a:ext cx="8382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同规则</a:t>
            </a:r>
            <a:endParaRPr sz="1800" b="0">
              <a:solidFill>
                <a:srgbClr val="263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-22"/>
          <p:cNvSpPr>
            <a:spLocks noGrp="1"/>
          </p:cNvSpPr>
          <p:nvPr/>
        </p:nvSpPr>
        <p:spPr>
          <a:xfrm>
            <a:off x="3562350" y="4014978"/>
            <a:ext cx="1066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特征提取</a:t>
            </a:r>
            <a:endParaRPr sz="1800" b="0">
              <a:solidFill>
                <a:srgbClr val="263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-23"/>
          <p:cNvSpPr>
            <a:spLocks noGrp="1"/>
          </p:cNvSpPr>
          <p:nvPr/>
        </p:nvSpPr>
        <p:spPr>
          <a:xfrm>
            <a:off x="5810250" y="3795141"/>
            <a:ext cx="4191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 b="0">
                <a:solidFill>
                  <a:srgbClr val="6D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00" b="0">
                <a:solidFill>
                  <a:srgbClr val="6D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6D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100" b="0">
              <a:solidFill>
                <a:srgbClr val="6D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-24"/>
          <p:cNvSpPr>
            <a:spLocks noGrp="1"/>
          </p:cNvSpPr>
          <p:nvPr/>
        </p:nvSpPr>
        <p:spPr>
          <a:xfrm>
            <a:off x="6515100" y="3672078"/>
            <a:ext cx="12954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已训练模型</a:t>
            </a:r>
            <a:endParaRPr sz="1800" b="0">
              <a:solidFill>
                <a:srgbClr val="263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-25"/>
          <p:cNvSpPr>
            <a:spLocks noGrp="1"/>
          </p:cNvSpPr>
          <p:nvPr/>
        </p:nvSpPr>
        <p:spPr>
          <a:xfrm>
            <a:off x="6515100" y="4014978"/>
            <a:ext cx="6096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</a:t>
            </a:r>
            <a:endParaRPr sz="1800" b="0">
              <a:solidFill>
                <a:srgbClr val="263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-26"/>
          <p:cNvSpPr>
            <a:spLocks noGrp="1"/>
          </p:cNvSpPr>
          <p:nvPr/>
        </p:nvSpPr>
        <p:spPr>
          <a:xfrm>
            <a:off x="8782050" y="3795141"/>
            <a:ext cx="4191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 b="0">
                <a:solidFill>
                  <a:srgbClr val="6D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00" b="0">
                <a:solidFill>
                  <a:srgbClr val="6D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6D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100" b="0">
              <a:solidFill>
                <a:srgbClr val="6D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-27"/>
          <p:cNvSpPr>
            <a:spLocks noGrp="1"/>
          </p:cNvSpPr>
          <p:nvPr/>
        </p:nvSpPr>
        <p:spPr>
          <a:xfrm>
            <a:off x="9467850" y="3672078"/>
            <a:ext cx="1066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风险解释</a:t>
            </a:r>
            <a:endParaRPr sz="1800" b="0">
              <a:solidFill>
                <a:srgbClr val="263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-28"/>
          <p:cNvSpPr>
            <a:spLocks noGrp="1"/>
          </p:cNvSpPr>
          <p:nvPr/>
        </p:nvSpPr>
        <p:spPr>
          <a:xfrm>
            <a:off x="9467850" y="4014978"/>
            <a:ext cx="15240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与优先级排序</a:t>
            </a:r>
            <a:endParaRPr sz="1800" b="0">
              <a:solidFill>
                <a:srgbClr val="263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0" name="直接箭头连接符 29"/>
          <p:cNvCxnSpPr/>
          <p:nvPr/>
        </p:nvCxnSpPr>
        <p:spPr>
          <a:xfrm>
            <a:off x="609600" y="4714875"/>
            <a:ext cx="10972800" cy="0"/>
          </a:xfrm>
          <a:prstGeom prst="straightConnector1">
            <a:avLst/>
          </a:prstGeom>
          <a:ln w="9525">
            <a:solidFill>
              <a:srgbClr val="D4DEE8"/>
            </a:solidFill>
            <a:headEnd type="none" w="sm" len="sm"/>
            <a:tailEnd type="none" w="sm" len="sm"/>
          </a:ln>
        </p:spPr>
      </p:cxnSp>
      <p:sp>
        <p:nvSpPr>
          <p:cNvPr id="31" name="text-30"/>
          <p:cNvSpPr>
            <a:spLocks noGrp="1"/>
          </p:cNvSpPr>
          <p:nvPr/>
        </p:nvSpPr>
        <p:spPr>
          <a:xfrm>
            <a:off x="609600" y="4938903"/>
            <a:ext cx="335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训练与预测共用特征提取规则。</a:t>
            </a:r>
            <a:endParaRPr sz="1800" b="1">
              <a:solidFill>
                <a:srgbClr val="1832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-31"/>
          <p:cNvSpPr>
            <a:spLocks noGrp="1"/>
          </p:cNvSpPr>
          <p:nvPr/>
        </p:nvSpPr>
        <p:spPr>
          <a:xfrm>
            <a:off x="6515100" y="4938903"/>
            <a:ext cx="38100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预测只使用提交当时可获得的信息。</a:t>
            </a:r>
            <a:endParaRPr sz="1800" b="1">
              <a:solidFill>
                <a:srgbClr val="1832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-32"/>
          <p:cNvSpPr>
            <a:spLocks noGrp="1"/>
          </p:cNvSpPr>
          <p:nvPr/>
        </p:nvSpPr>
        <p:spPr>
          <a:xfrm>
            <a:off x="609600" y="5529453"/>
            <a:ext cx="40386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模型提前训练，用户使用时直接调用。</a:t>
            </a:r>
            <a:endParaRPr sz="1800" b="0">
              <a:solidFill>
                <a:srgbClr val="263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-33"/>
          <p:cNvSpPr>
            <a:spLocks noGrp="1"/>
          </p:cNvSpPr>
          <p:nvPr/>
        </p:nvSpPr>
        <p:spPr>
          <a:xfrm>
            <a:off x="609600" y="5900928"/>
            <a:ext cx="63246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63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开源数据上的评估表现，需要进一步通过课程项目试用验证。</a:t>
            </a:r>
            <a:endParaRPr sz="1800" b="0">
              <a:solidFill>
                <a:srgbClr val="263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-34"/>
          <p:cNvSpPr>
            <a:spLocks noGrp="1"/>
          </p:cNvSpPr>
          <p:nvPr/>
        </p:nvSpPr>
        <p:spPr>
          <a:xfrm>
            <a:off x="11315700" y="6320790"/>
            <a:ext cx="39243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500" b="0">
              <a:solidFill>
                <a:srgbClr val="6172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slide-title"/>
          <p:cNvSpPr>
            <a:spLocks noGrp="1"/>
          </p:cNvSpPr>
          <p:nvPr/>
        </p:nvSpPr>
        <p:spPr>
          <a:xfrm>
            <a:off x="609600" y="487680"/>
            <a:ext cx="3581400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0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小组分工与模块责任</a:t>
            </a:r>
            <a:endParaRPr sz="3000" b="1">
              <a:solidFill>
                <a:srgbClr val="1832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6320790"/>
            <a:ext cx="3962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以上为工作分配，不表示所有功能已经实现。</a:t>
            </a:r>
            <a:endParaRPr sz="1500" b="0">
              <a:solidFill>
                <a:srgbClr val="6172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315700" y="6320790"/>
            <a:ext cx="39243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500" b="0">
              <a:solidFill>
                <a:srgbClr val="6172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504950"/>
          <a:ext cx="10972800" cy="4686300"/>
        </p:xfrm>
        <a:graphic>
          <a:graphicData uri="http://schemas.openxmlformats.org/drawingml/2006/table">
            <a:tbl>
              <a:tblPr/>
              <a:tblGrid>
                <a:gridCol w="3048000"/>
                <a:gridCol w="2286000"/>
                <a:gridCol w="5638800"/>
              </a:tblGrid>
              <a:tr h="495300"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32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角色与人员</a:t>
                      </a:r>
                      <a:endParaRPr sz="1800" b="1">
                        <a:solidFill>
                          <a:srgbClr val="1832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3F6FA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32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主责模块</a:t>
                      </a:r>
                      <a:endParaRPr sz="1800" b="1">
                        <a:solidFill>
                          <a:srgbClr val="1832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3F6FA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32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核心工作</a:t>
                      </a:r>
                      <a:endParaRPr sz="1800" b="1">
                        <a:solidFill>
                          <a:srgbClr val="1832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3F6FA"/>
                    </a:solidFill>
                  </a:tcPr>
                </a:tc>
              </a:tr>
              <a:tr h="1047750"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A．数据与特征工程师</a:t>
                      </a:r>
                      <a:endParaRPr sz="1800" b="1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白沁禾</a:t>
                      </a:r>
                      <a:endParaRPr sz="1800" b="1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数据采集、</a:t>
                      </a:r>
                      <a:endParaRPr sz="1800" b="0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特征工程</a:t>
                      </a:r>
                      <a:endParaRPr sz="1800" b="0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Git仓库解析、SZZ、Kamei 14维特征、</a:t>
                      </a:r>
                      <a:endParaRPr sz="1800" b="0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数据清洗与持久化、训练集构建</a:t>
                      </a:r>
                      <a:endParaRPr sz="1800" b="0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B．模型工程师</a:t>
                      </a:r>
                      <a:endParaRPr sz="1800" b="1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张艺馨</a:t>
                      </a:r>
                      <a:endParaRPr sz="1800" b="1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模型训练、</a:t>
                      </a:r>
                      <a:endParaRPr sz="1800" b="0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评估与解释</a:t>
                      </a:r>
                      <a:endParaRPr sz="1800" b="0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至少8个模型（经典ML与DL）、两类</a:t>
                      </a:r>
                      <a:endParaRPr sz="1800" b="0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评估指标、数据划分、模型对比选型、</a:t>
                      </a:r>
                      <a:endParaRPr sz="1800" b="0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SHAP等解释</a:t>
                      </a:r>
                      <a:endParaRPr sz="1800" b="0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C．后端与系统工程师</a:t>
                      </a:r>
                      <a:endParaRPr sz="1800" b="1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侯洁</a:t>
                      </a:r>
                      <a:endParaRPr sz="1800" b="1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预测服务、</a:t>
                      </a:r>
                      <a:endParaRPr sz="1800" b="0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工程化</a:t>
                      </a:r>
                      <a:endParaRPr sz="1800" b="0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在线预测API、数据与模型封装、</a:t>
                      </a:r>
                      <a:endParaRPr sz="1800" b="0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仓库集成或Webhook、CI/CD、</a:t>
                      </a:r>
                      <a:endParaRPr sz="1800" b="0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部署与稳定性</a:t>
                      </a:r>
                      <a:endParaRPr sz="1800" b="0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D．前端与产品工程师</a:t>
                      </a:r>
                      <a:endParaRPr sz="1800" b="1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张欣悦</a:t>
                      </a:r>
                      <a:endParaRPr sz="1800" b="1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可视化、</a:t>
                      </a:r>
                      <a:endParaRPr sz="1800" b="0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产品体验</a:t>
                      </a:r>
                      <a:endParaRPr sz="1800" b="0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风险列表、趋势看板、详情页、结果与</a:t>
                      </a:r>
                      <a:endParaRPr sz="1800" b="0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解释展示、交互打磨、产品文档与演示</a:t>
                      </a:r>
                      <a:endParaRPr sz="1800" b="0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slide-title"/>
          <p:cNvSpPr>
            <a:spLocks noGrp="1"/>
          </p:cNvSpPr>
          <p:nvPr/>
        </p:nvSpPr>
        <p:spPr>
          <a:xfrm>
            <a:off x="609600" y="487680"/>
            <a:ext cx="3581400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0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当前问题与应对计划</a:t>
            </a:r>
            <a:endParaRPr sz="3000" b="1">
              <a:solidFill>
                <a:srgbClr val="1832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11315700" y="6320790"/>
            <a:ext cx="39243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500" b="0">
              <a:solidFill>
                <a:srgbClr val="6172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09600" y="1619250"/>
          <a:ext cx="10972800" cy="4610100"/>
        </p:xfrm>
        <a:graphic>
          <a:graphicData uri="http://schemas.openxmlformats.org/drawingml/2006/table">
            <a:tbl>
              <a:tblPr/>
              <a:tblGrid>
                <a:gridCol w="2876550"/>
                <a:gridCol w="3810000"/>
                <a:gridCol w="4286250"/>
              </a:tblGrid>
              <a:tr h="495300"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32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当前问题</a:t>
                      </a:r>
                      <a:endParaRPr sz="1800" b="1">
                        <a:solidFill>
                          <a:srgbClr val="1832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3F6FA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32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具体表现</a:t>
                      </a:r>
                      <a:endParaRPr sz="1800" b="1">
                        <a:solidFill>
                          <a:srgbClr val="1832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3F6FA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32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应对计划</a:t>
                      </a:r>
                      <a:endParaRPr sz="1800" b="1">
                        <a:solidFill>
                          <a:srgbClr val="1832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3F6FA"/>
                    </a:solidFill>
                  </a:tcPr>
                </a:tc>
              </a:tr>
              <a:tr h="1028700"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首个可用版本</a:t>
                      </a:r>
                      <a:endParaRPr sz="1800" b="1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边界不够明确</a:t>
                      </a:r>
                      <a:endParaRPr sz="1800" b="1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产品主线已明确，首次交付</a:t>
                      </a:r>
                      <a:endParaRPr sz="1800" b="0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功能与验收标准仍需细化</a:t>
                      </a:r>
                      <a:endParaRPr sz="1800" b="0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确定首次演示必须跑通的流程，</a:t>
                      </a:r>
                      <a:endParaRPr sz="1800" b="0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划分优先实现与后续扩展功能</a:t>
                      </a:r>
                      <a:endParaRPr sz="1800" b="0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实验工作量较大</a:t>
                      </a:r>
                      <a:endParaRPr sz="1800" b="1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至少8个模型，涉及两类</a:t>
                      </a:r>
                      <a:endParaRPr sz="1800" b="0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指标、模型对比与解释</a:t>
                      </a:r>
                      <a:endParaRPr sz="1800" b="0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先跑通基线模型，统一实验</a:t>
                      </a:r>
                      <a:endParaRPr sz="1800" b="0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流程，再逐步扩展模型</a:t>
                      </a:r>
                      <a:endParaRPr sz="1800" b="0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模块交付约定</a:t>
                      </a:r>
                      <a:endParaRPr sz="1800" b="1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不够具体</a:t>
                      </a:r>
                      <a:endParaRPr sz="1800" b="1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数据格式、特征顺序、模型</a:t>
                      </a:r>
                      <a:endParaRPr sz="1800" b="0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文件及接口结构尚需对齐</a:t>
                      </a:r>
                      <a:endParaRPr sz="1800" b="0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制定输入输出规范，用公共</a:t>
                      </a:r>
                      <a:endParaRPr sz="1800" b="0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样例数据提前联调</a:t>
                      </a:r>
                      <a:endParaRPr sz="1800" b="0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训练数据与目标</a:t>
                      </a:r>
                      <a:endParaRPr sz="1800" b="1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用户存在差异</a:t>
                      </a:r>
                      <a:endParaRPr sz="1800" b="1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开源项目与高校课程项目的</a:t>
                      </a:r>
                      <a:endParaRPr sz="1800" b="0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规模、提交习惯存在差异</a:t>
                      </a:r>
                      <a:endParaRPr sz="1800" b="0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分开开展开源数据评估与课程</a:t>
                      </a:r>
                      <a:endParaRPr sz="1800" b="0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项目试用，验证适用性</a:t>
                      </a:r>
                      <a:endParaRPr sz="1800" b="0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09600" y="487680"/>
            <a:ext cx="3962400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0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下一步计划与阶段交付</a:t>
            </a:r>
            <a:endParaRPr sz="3000" b="1">
              <a:solidFill>
                <a:srgbClr val="1832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5804916"/>
            <a:ext cx="44196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下一阶段重点是完成首个可用流程，</a:t>
            </a:r>
            <a:endParaRPr sz="2100" b="1">
              <a:solidFill>
                <a:srgbClr val="1832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609600" y="6204966"/>
            <a:ext cx="6019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并验证预测结果能否帮助课程团队开展代码审查。</a:t>
            </a:r>
            <a:endParaRPr sz="2100" b="1">
              <a:solidFill>
                <a:srgbClr val="1832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11315700" y="6320790"/>
            <a:ext cx="39243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6172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500" b="0">
              <a:solidFill>
                <a:srgbClr val="6172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609600" y="1466850"/>
          <a:ext cx="10972800" cy="4152900"/>
        </p:xfrm>
        <a:graphic>
          <a:graphicData uri="http://schemas.openxmlformats.org/drawingml/2006/table">
            <a:tbl>
              <a:tblPr/>
              <a:tblGrid>
                <a:gridCol w="2971800"/>
                <a:gridCol w="4171950"/>
                <a:gridCol w="3829050"/>
              </a:tblGrid>
              <a:tr h="495300"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32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阶段</a:t>
                      </a:r>
                      <a:endParaRPr sz="1800" b="1">
                        <a:solidFill>
                          <a:srgbClr val="1832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3F6FA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32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重点工作</a:t>
                      </a:r>
                      <a:endParaRPr sz="1800" b="1">
                        <a:solidFill>
                          <a:srgbClr val="1832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3F6FA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32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阶段交付</a:t>
                      </a:r>
                      <a:endParaRPr sz="1800" b="1">
                        <a:solidFill>
                          <a:srgbClr val="1832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3F6FA"/>
                    </a:solidFill>
                  </a:tcPr>
                </a:tc>
              </a:tr>
              <a:tr h="914400"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1．明确交付范围</a:t>
                      </a:r>
                      <a:endParaRPr sz="1800" b="1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与协作规范</a:t>
                      </a:r>
                      <a:endParaRPr sz="1800" b="1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确定首次可用功能及验收标准，</a:t>
                      </a:r>
                      <a:endParaRPr sz="1800" b="0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统一数据与接口格式</a:t>
                      </a:r>
                      <a:endParaRPr sz="1800" b="0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166A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功能清单、接口约定、</a:t>
                      </a:r>
                      <a:endParaRPr sz="1800" b="0">
                        <a:solidFill>
                          <a:srgbClr val="2166A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166A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公共样例数据</a:t>
                      </a:r>
                      <a:endParaRPr sz="1800" b="0">
                        <a:solidFill>
                          <a:srgbClr val="2166A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2．完成数据</a:t>
                      </a:r>
                      <a:endParaRPr sz="1800" b="1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与模型基线</a:t>
                      </a:r>
                      <a:endParaRPr sz="1800" b="1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跑通数据采集、标注、特征提取</a:t>
                      </a:r>
                      <a:endParaRPr sz="1800" b="0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和基线评估，逐步扩展模型实验</a:t>
                      </a:r>
                      <a:endParaRPr sz="1800" b="0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166A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可复现的数据处理流程、</a:t>
                      </a:r>
                      <a:endParaRPr sz="1800" b="0">
                        <a:solidFill>
                          <a:srgbClr val="2166A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166A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模型与评估报告</a:t>
                      </a:r>
                      <a:endParaRPr sz="1800" b="0">
                        <a:solidFill>
                          <a:srgbClr val="2166A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3．完成系统联调</a:t>
                      </a:r>
                      <a:endParaRPr sz="1800" b="1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连接仓库接入、预测、风险解释</a:t>
                      </a:r>
                      <a:endParaRPr sz="1800" b="0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与审查记录功能</a:t>
                      </a:r>
                      <a:endParaRPr sz="1800" b="0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166A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可运行的完整使用流程</a:t>
                      </a:r>
                      <a:endParaRPr sz="1800" b="0">
                        <a:solidFill>
                          <a:srgbClr val="2166A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4．开展场景验证</a:t>
                      </a:r>
                      <a:endParaRPr sz="1800" b="1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邀请课程团队试用，收集反馈</a:t>
                      </a:r>
                      <a:endParaRPr sz="1800" b="0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并检查模型适用性</a:t>
                      </a:r>
                      <a:endParaRPr sz="1800" b="0">
                        <a:solidFill>
                          <a:srgbClr val="2634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166A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试用记录、问题清单</a:t>
                      </a:r>
                      <a:endParaRPr sz="1800" b="0">
                        <a:solidFill>
                          <a:srgbClr val="2166A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166A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与改进计划</a:t>
                      </a:r>
                      <a:endParaRPr sz="1800" b="0">
                        <a:solidFill>
                          <a:srgbClr val="2166A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1611</Words>
  <Application>WPS 演示</Application>
  <PresentationFormat>Converted Presentation</PresentationFormat>
  <Paragraphs>364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Arial Unicode MS</vt:lpstr>
      <vt:lpstr>Aptos</vt:lpstr>
      <vt:lpstr>Segoe UI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～</cp:lastModifiedBy>
  <cp:revision>1</cp:revision>
  <dcterms:created xsi:type="dcterms:W3CDTF">2026-10-09T05:24:41Z</dcterms:created>
  <dcterms:modified xsi:type="dcterms:W3CDTF">2026-10-09T05:24:41Z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43074F5059744708B541B1B5FC5509F7_12</vt:lpwstr>
  </property>
</Properties>
</file>